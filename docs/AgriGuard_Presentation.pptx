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2E7D3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1565C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548640"/>
            <a:ext cx="73152" cy="12801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4572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AGRIGUARD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005840" y="17373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Zero-Touch Parametric Insurance &amp;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Early Warning System for Africa's Smallholder Farmers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05840" y="2834640"/>
            <a:ext cx="54864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8072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GNSS Geo-fencing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2834640"/>
            <a:ext cx="54864" cy="274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2880360" y="28072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Observation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2834640"/>
            <a:ext cx="54864" cy="274320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8072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Smart Contracts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2834640"/>
            <a:ext cx="54864" cy="2743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28072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Damage Estimation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05840" y="3291840"/>
            <a:ext cx="6858000" cy="0"/>
          </a:xfrm>
          <a:prstGeom prst="line">
            <a:avLst/>
          </a:prstGeom>
          <a:noFill/>
          <a:ln w="6350">
            <a:solidFill>
              <a:srgbClr val="2A2F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429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Submission  ·  July 2026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4389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Earth speaks, farmers get paid.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disasters are breaking Africa's food system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617720"/>
            <a:ext cx="8229600" cy="0"/>
          </a:xfrm>
          <a:prstGeom prst="line">
            <a:avLst/>
          </a:prstGeom>
          <a:noFill/>
          <a:ln w="6350">
            <a:solidFill>
              <a:srgbClr val="2A2F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3840480" cy="1463040"/>
          </a:xfrm>
          <a:prstGeom prst="rect">
            <a:avLst/>
          </a:prstGeom>
          <a:solidFill>
            <a:srgbClr val="14192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4630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$9.3B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crop loss from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disasters in Africa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371600"/>
            <a:ext cx="4114800" cy="1463040"/>
          </a:xfrm>
          <a:prstGeom prst="rect">
            <a:avLst/>
          </a:prstGeom>
          <a:solidFill>
            <a:srgbClr val="14192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4630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8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&lt;3%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572000" y="21945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insurance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rate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08960"/>
            <a:ext cx="54864" cy="5486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13639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⏳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12-Week Claims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3832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adjusters must physically visit each farm. Farmers wait months for liquidity they need today.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749040"/>
            <a:ext cx="54864" cy="548640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77647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$50–$200 Per Claim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40233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verification costs make small-farm insurance economically unviable for traditional carriers.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389120"/>
            <a:ext cx="54864" cy="5486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4165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4407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10–15% Fraud Rate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46634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farmer reporting + no tamper-proof location proof = systemic fraud.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human adjusters with satellite 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617720"/>
            <a:ext cx="8229600" cy="0"/>
          </a:xfrm>
          <a:prstGeom prst="line">
            <a:avLst/>
          </a:prstGeom>
          <a:noFill/>
          <a:ln w="6350">
            <a:solidFill>
              <a:srgbClr val="2A2F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37160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508760" cy="201168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19456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GNSS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Geo-fencing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Galileo GNSS anchors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farm to 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location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65960" y="13716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6060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606040" y="1371600"/>
            <a:ext cx="548640" cy="54864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148840" y="2103120"/>
            <a:ext cx="1508760" cy="201168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240280" y="219456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Earth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40280" y="301752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EONET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GEOGLOWS monitor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 in real-time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0" y="13716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6060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97680" y="1371600"/>
            <a:ext cx="548640" cy="548640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840480" y="2103120"/>
            <a:ext cx="1508760" cy="201168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931920" y="219456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Spatial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31920" y="301752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ST_Intersects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affected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farms instantly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49240" y="13716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6060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89320" y="1371600"/>
            <a:ext cx="548640" cy="54864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6" name="Text 24"/>
          <p:cNvSpPr/>
          <p:nvPr/>
        </p:nvSpPr>
        <p:spPr>
          <a:xfrm>
            <a:off x="59893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532120" y="2103120"/>
            <a:ext cx="1508760" cy="201168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23560" y="219456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Contract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Payout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23560" y="301752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triggers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transfer 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3 minutes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040880" y="13716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6060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80960" y="1371600"/>
            <a:ext cx="548640" cy="5486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2" name="Text 30"/>
          <p:cNvSpPr/>
          <p:nvPr/>
        </p:nvSpPr>
        <p:spPr>
          <a:xfrm>
            <a:off x="76809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223760" y="2103120"/>
            <a:ext cx="1508760" cy="201168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315200" y="219456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SMS + 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0" y="301752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SMS alert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damage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report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solidFill>
            <a:srgbClr val="141925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36168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satellite observation → automated financial resilience — no human intervention required.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Four-tier architecture: Space Data → Processing → Application → Frontend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617720"/>
            <a:ext cx="8229600" cy="0"/>
          </a:xfrm>
          <a:prstGeom prst="line">
            <a:avLst/>
          </a:prstGeom>
          <a:noFill/>
          <a:ln w="6350">
            <a:solidFill>
              <a:srgbClr val="2A2F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1463040" cy="7315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LAYER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03120" y="1280160"/>
            <a:ext cx="1554480" cy="73152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1325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Galileo GNSS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Geo-fencing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11880" y="1280160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6060"/>
                </a:solidFill>
              </a:rPr>
              <a:t>→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94760" y="1280160"/>
            <a:ext cx="1554480" cy="73152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3" name="Text 11"/>
          <p:cNvSpPr/>
          <p:nvPr/>
        </p:nvSpPr>
        <p:spPr>
          <a:xfrm>
            <a:off x="3886200" y="1325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EONET API v3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Monitoring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303520" y="1280160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6060"/>
                </a:solidFill>
              </a:rPr>
              <a:t>→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1280160"/>
            <a:ext cx="1554480" cy="73152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6" name="Text 14"/>
          <p:cNvSpPr/>
          <p:nvPr/>
        </p:nvSpPr>
        <p:spPr>
          <a:xfrm>
            <a:off x="5577840" y="1325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GEOGLOWS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Forecast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995160" y="1280160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6060"/>
                </a:solidFill>
              </a:rPr>
              <a:t>→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78040" y="1280160"/>
            <a:ext cx="1554480" cy="73152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9" name="Text 17"/>
          <p:cNvSpPr/>
          <p:nvPr/>
        </p:nvSpPr>
        <p:spPr>
          <a:xfrm>
            <a:off x="7269480" y="1325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Layer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297680" y="1920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6060"/>
                </a:solidFill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148840"/>
            <a:ext cx="1463040" cy="7315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1488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PROCESSING LAYER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03120" y="2148840"/>
            <a:ext cx="1554480" cy="73152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24" name="Text 22"/>
          <p:cNvSpPr/>
          <p:nvPr/>
        </p:nvSpPr>
        <p:spPr>
          <a:xfrm>
            <a:off x="219456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Signal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post_save Auto-trigger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11880" y="2148840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6060"/>
                </a:solidFill>
              </a:rPr>
              <a:t>→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94760" y="2148840"/>
            <a:ext cx="1554480" cy="73152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27" name="Text 25"/>
          <p:cNvSpPr/>
          <p:nvPr/>
        </p:nvSpPr>
        <p:spPr>
          <a:xfrm>
            <a:off x="388620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Task Queue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Processing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03520" y="2148840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6060"/>
                </a:solidFill>
              </a:rPr>
              <a:t>→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0" y="2148840"/>
            <a:ext cx="1554480" cy="73152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0" name="Text 28"/>
          <p:cNvSpPr/>
          <p:nvPr/>
        </p:nvSpPr>
        <p:spPr>
          <a:xfrm>
            <a:off x="557784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ST_Intersects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Query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995160" y="2148840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6060"/>
                </a:solidFill>
              </a:rPr>
              <a:t>→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78040" y="2148840"/>
            <a:ext cx="1554480" cy="73152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3" name="Text 31"/>
          <p:cNvSpPr/>
          <p:nvPr/>
        </p:nvSpPr>
        <p:spPr>
          <a:xfrm>
            <a:off x="726948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GPT-3.5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Estimation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297680" y="27889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6060"/>
                </a:solidFill>
              </a:rPr>
              <a:t>↓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" y="3017520"/>
            <a:ext cx="1463040" cy="731520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0175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 LAYER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103120" y="3017520"/>
            <a:ext cx="1554480" cy="73152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8" name="Text 36"/>
          <p:cNvSpPr/>
          <p:nvPr/>
        </p:nvSpPr>
        <p:spPr>
          <a:xfrm>
            <a:off x="2194560" y="3063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Push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611880" y="3017520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6060"/>
                </a:solidFill>
              </a:rPr>
              <a:t>→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794760" y="3017520"/>
            <a:ext cx="1554480" cy="73152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41" name="Text 39"/>
          <p:cNvSpPr/>
          <p:nvPr/>
        </p:nvSpPr>
        <p:spPr>
          <a:xfrm>
            <a:off x="3886200" y="3063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SMS/USSD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Alert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303520" y="3017520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6060"/>
                </a:solidFill>
              </a:rPr>
              <a:t>→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0" y="3017520"/>
            <a:ext cx="1554480" cy="73152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44" name="Text 42"/>
          <p:cNvSpPr/>
          <p:nvPr/>
        </p:nvSpPr>
        <p:spPr>
          <a:xfrm>
            <a:off x="5577840" y="3063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Oracle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Check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995160" y="3017520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6060"/>
                </a:solidFill>
              </a:rPr>
              <a:t>→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178040" y="3017520"/>
            <a:ext cx="1554480" cy="73152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47" name="Text 45"/>
          <p:cNvSpPr/>
          <p:nvPr/>
        </p:nvSpPr>
        <p:spPr>
          <a:xfrm>
            <a:off x="7269480" y="3063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Contract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Payout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297680" y="3657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6060"/>
                </a:solidFill>
              </a:rPr>
              <a:t>↓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457200" y="3886200"/>
            <a:ext cx="1463040" cy="7315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" y="38862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 LAYER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103120" y="3886200"/>
            <a:ext cx="1554480" cy="73152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52" name="Text 50"/>
          <p:cNvSpPr/>
          <p:nvPr/>
        </p:nvSpPr>
        <p:spPr>
          <a:xfrm>
            <a:off x="2194560" y="3931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ArcGIS 3D SceneView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Basemap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611880" y="3886200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6060"/>
                </a:solidFill>
              </a:rPr>
              <a:t>→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794760" y="3886200"/>
            <a:ext cx="1554480" cy="73152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55" name="Text 53"/>
          <p:cNvSpPr/>
          <p:nvPr/>
        </p:nvSpPr>
        <p:spPr>
          <a:xfrm>
            <a:off x="3886200" y="3931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ArcGIS Sketch Tool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Drawing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303520" y="3886200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6060"/>
                </a:solidFill>
              </a:rPr>
              <a:t>→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486400" y="3886200"/>
            <a:ext cx="1554480" cy="73152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58" name="Text 56"/>
          <p:cNvSpPr/>
          <p:nvPr/>
        </p:nvSpPr>
        <p:spPr>
          <a:xfrm>
            <a:off x="5577840" y="3931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Dashboard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995160" y="3886200"/>
            <a:ext cx="228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6060"/>
                </a:solidFill>
              </a:rPr>
              <a:t>→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178040" y="3886200"/>
            <a:ext cx="1554480" cy="73152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61" name="Text 59"/>
          <p:cNvSpPr/>
          <p:nvPr/>
        </p:nvSpPr>
        <p:spPr>
          <a:xfrm>
            <a:off x="7269480" y="3931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AgriBot AI Chat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Q&amp;A (i18n)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Parametric Trigger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automated claim lifecycle: zero human intervention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617720"/>
            <a:ext cx="8229600" cy="0"/>
          </a:xfrm>
          <a:prstGeom prst="line">
            <a:avLst/>
          </a:prstGeom>
          <a:noFill/>
          <a:ln w="6350">
            <a:solidFill>
              <a:srgbClr val="2A2F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37160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1554480" cy="192024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011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Ingest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8346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EONET 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Beat (6h)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ArcGIS Sketch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83080" y="141732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06040" y="137160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011680" y="1965960"/>
            <a:ext cx="1554480" cy="192024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03120" y="2011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Spatial Query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03120" y="28346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ST_Intersects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∩ Disaster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20440" y="141732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65C0"/>
                </a:solidFill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43400" y="1371600"/>
            <a:ext cx="457200" cy="457200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20" name="Text 18"/>
          <p:cNvSpPr/>
          <p:nvPr/>
        </p:nvSpPr>
        <p:spPr>
          <a:xfrm>
            <a:off x="43434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749040" y="1965960"/>
            <a:ext cx="1554480" cy="192024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40480" y="2011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Parametric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0" y="28346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≥ threshold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 × severity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payout amount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57800" y="141732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8F00"/>
                </a:solidFill>
              </a:rPr>
              <a:t>▶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80760" y="1371600"/>
            <a:ext cx="457200" cy="45720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6" name="Text 24"/>
          <p:cNvSpPr/>
          <p:nvPr/>
        </p:nvSpPr>
        <p:spPr>
          <a:xfrm>
            <a:off x="60807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0" y="1965960"/>
            <a:ext cx="1554480" cy="192024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577840" y="2011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Contract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Payout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77840" y="28346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Web3.py → Solidity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transfer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min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95160" y="141732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62828"/>
                </a:solidFill>
              </a:rPr>
              <a:t>▶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818120" y="137160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2" name="Text 30"/>
          <p:cNvSpPr/>
          <p:nvPr/>
        </p:nvSpPr>
        <p:spPr>
          <a:xfrm>
            <a:off x="78181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223760" y="1965960"/>
            <a:ext cx="1554480" cy="192024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315200" y="2011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Notification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Report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0" y="28346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SMS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push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report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141925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</a:t>
            </a:r>
            <a:pPr algn="ctr" indent="0" marL="0">
              <a:buNone/>
            </a:pPr>
            <a:r>
              <a:rPr lang="en-US" sz="11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claim settlement: </a:t>
            </a:r>
            <a:pPr algn="ctr"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minutes</a:t>
            </a:r>
            <a:pPr algn="ctr" indent="0" marL="0">
              <a:buNone/>
            </a:pPr>
            <a:r>
              <a:rPr lang="en-US" sz="11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Verification cost: </a:t>
            </a:r>
            <a:pPr algn="ctr"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$0</a:t>
            </a:r>
            <a:pPr algn="ctr" indent="0" marL="0">
              <a:buNone/>
            </a:pPr>
            <a:r>
              <a:rPr lang="en-US" sz="11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Fraud rate: </a:t>
            </a:r>
            <a:pPr algn="ctr"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pPr algn="ctr" indent="0" marL="0">
              <a:buNone/>
            </a:pPr>
            <a:r>
              <a:rPr lang="en-US" sz="11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All automated via GNSS + EO + Web3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 Metrics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AgriGuard vs. After AgriGuard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617720"/>
            <a:ext cx="8229600" cy="0"/>
          </a:xfrm>
          <a:prstGeom prst="line">
            <a:avLst/>
          </a:prstGeom>
          <a:noFill/>
          <a:ln w="6350">
            <a:solidFill>
              <a:srgbClr val="2A2F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Metric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Traditional Insurance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AgriGuard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Improvement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737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Settlement Time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4–12 Weeks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Minutes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 faster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solidFill>
            <a:srgbClr val="14192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Verification Cost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6888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$50–$200 per claim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$0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~100% reduction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68880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0%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solidFill>
            <a:srgbClr val="141925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 Currency Risk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46888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currency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6344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Stablecoin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Reach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46888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farms only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6344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farmer w/ SMS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0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reach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141925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Affordability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468880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$50–$200 / year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63440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~$20 / year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58000" y="4023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5–10x cheaper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Size &amp; Revenue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→ SAM → SOM | B2B2C SaaS Model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617720"/>
            <a:ext cx="8229600" cy="0"/>
          </a:xfrm>
          <a:prstGeom prst="line">
            <a:avLst/>
          </a:prstGeom>
          <a:noFill/>
          <a:ln w="6350">
            <a:solidFill>
              <a:srgbClr val="2A2F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560320"/>
            <a:ext cx="1280160" cy="54864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60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2024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4.85M smallholder farmers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$9.3B annual crop loss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1920240"/>
            <a:ext cx="1005840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9202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2024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1.2M connected farmers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2194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 mobile money accounts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731520" cy="5486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12801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20240" y="1325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120,000 farmers (10% of SAM)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1554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target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Model (Year 3 ARR)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1737360"/>
            <a:ext cx="3840480" cy="77724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0" y="1810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Micro-premium (B2C)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120K × $20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9440" y="17373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$2.4M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846320" y="2606040"/>
            <a:ext cx="3840480" cy="777240"/>
          </a:xfrm>
          <a:prstGeom prst="rect">
            <a:avLst/>
          </a:prstGeom>
          <a:solidFill>
            <a:srgbClr val="14192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0" y="2679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License (B2B)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insurers × $30K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9440" y="26060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$300K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4846320" y="3474720"/>
            <a:ext cx="3840480" cy="777240"/>
          </a:xfrm>
          <a:prstGeom prst="rect">
            <a:avLst/>
          </a:prstGeom>
          <a:solidFill>
            <a:srgbClr val="14192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0" y="3547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Contract Fee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0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400K events × $0.50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49440" y="34747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$200K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4846320" y="4343400"/>
            <a:ext cx="3840480" cy="4114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4343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ARR: 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 Prototype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 with actual file references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617720"/>
            <a:ext cx="8229600" cy="0"/>
          </a:xfrm>
          <a:prstGeom prst="line">
            <a:avLst/>
          </a:prstGeom>
          <a:noFill/>
          <a:ln w="6350">
            <a:solidFill>
              <a:srgbClr val="2A2F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71600"/>
            <a:ext cx="2011680" cy="310896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71600"/>
            <a:ext cx="201168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508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Models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828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core/models.py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1480" y="2286000"/>
            <a:ext cx="137160" cy="1371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94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(GNSS PointField)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788920"/>
            <a:ext cx="137160" cy="1371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97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DisasterEvent (PolygonField)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3291840"/>
            <a:ext cx="137160" cy="1371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00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RiskAlert (Join Table)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3794760"/>
            <a:ext cx="137160" cy="1371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03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spatial indexes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40280" y="2560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D32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468880" y="1371600"/>
            <a:ext cx="2011680" cy="310896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68880" y="1371600"/>
            <a:ext cx="201168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2606040" y="1508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Celery Tasks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06040" y="1828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core/tasks.py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606040" y="2286000"/>
            <a:ext cx="137160" cy="13716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5" name="Text 23"/>
          <p:cNvSpPr/>
          <p:nvPr/>
        </p:nvSpPr>
        <p:spPr>
          <a:xfrm>
            <a:off x="2834640" y="2194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process_disaster_event()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606040" y="2788920"/>
            <a:ext cx="137160" cy="13716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2834640" y="2697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ST_Intersects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606040" y="3291840"/>
            <a:ext cx="137160" cy="13716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9" name="Text 27"/>
          <p:cNvSpPr/>
          <p:nvPr/>
        </p:nvSpPr>
        <p:spPr>
          <a:xfrm>
            <a:off x="2834640" y="3200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Web3.py ETH transfer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06040" y="3794760"/>
            <a:ext cx="137160" cy="13716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1" name="Text 29"/>
          <p:cNvSpPr/>
          <p:nvPr/>
        </p:nvSpPr>
        <p:spPr>
          <a:xfrm>
            <a:off x="2834640" y="3703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report + SMS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34840" y="2560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65C0"/>
                </a:solidFill>
              </a:rPr>
              <a:t>▶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663440" y="1371600"/>
            <a:ext cx="2011680" cy="310896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1371600"/>
            <a:ext cx="2011680" cy="54864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1508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Auto-Trigger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00600" y="1828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core/signals.py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800600" y="2286000"/>
            <a:ext cx="137160" cy="137160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2194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post_save signal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00600" y="2788920"/>
            <a:ext cx="137160" cy="137160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0" y="2697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new DisasterEvent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00600" y="3291840"/>
            <a:ext cx="137160" cy="137160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0" y="3200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auto-dispatches Celery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00600" y="3794760"/>
            <a:ext cx="137160" cy="137160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0" y="3703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human intervention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629400" y="2560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8F00"/>
                </a:solidFill>
              </a:rPr>
              <a:t>▶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858000" y="1371600"/>
            <a:ext cx="2011680" cy="310896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858000" y="1371600"/>
            <a:ext cx="201168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8" name="Text 46"/>
          <p:cNvSpPr/>
          <p:nvPr/>
        </p:nvSpPr>
        <p:spPr>
          <a:xfrm>
            <a:off x="6995160" y="1508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Contract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995160" y="1828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AgriGuardParametric.sol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995160" y="2286000"/>
            <a:ext cx="137160" cy="1371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51" name="Text 49"/>
          <p:cNvSpPr/>
          <p:nvPr/>
        </p:nvSpPr>
        <p:spPr>
          <a:xfrm>
            <a:off x="7223760" y="2194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createPolicy()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995160" y="2788920"/>
            <a:ext cx="137160" cy="1371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53" name="Text 51"/>
          <p:cNvSpPr/>
          <p:nvPr/>
        </p:nvSpPr>
        <p:spPr>
          <a:xfrm>
            <a:off x="7223760" y="2697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triggerPayout()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995160" y="3291840"/>
            <a:ext cx="137160" cy="1371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55" name="Text 53"/>
          <p:cNvSpPr/>
          <p:nvPr/>
        </p:nvSpPr>
        <p:spPr>
          <a:xfrm>
            <a:off x="7223760" y="3200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geoHash anti-fraud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995160" y="3794760"/>
            <a:ext cx="137160" cy="1371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57" name="Text 55"/>
          <p:cNvSpPr/>
          <p:nvPr/>
        </p:nvSpPr>
        <p:spPr>
          <a:xfrm>
            <a:off x="7223760" y="3703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Double-payout prevention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solidFill>
            <a:srgbClr val="141925"/>
          </a:solidFill>
          <a:ln/>
        </p:spPr>
      </p:sp>
      <p:sp>
        <p:nvSpPr>
          <p:cNvPr id="59" name="Text 57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Ingestion: </a:t>
            </a:r>
            <a:pPr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fetch_nasa_eonet.py (Celery Beat 6h)  |  ArcGIS Sketch Tool → POST /api/events/  |  Django post_save signal → auto-trigger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5-service Docker architecture with full-stack geospatial capabilities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617720"/>
            <a:ext cx="8229600" cy="0"/>
          </a:xfrm>
          <a:prstGeom prst="line">
            <a:avLst/>
          </a:prstGeom>
          <a:noFill/>
          <a:ln w="6350">
            <a:solidFill>
              <a:srgbClr val="2A2F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201168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Space &amp; Earth Observation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1234440"/>
            <a:ext cx="1737360" cy="566928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2344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Galileo GNSS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26280" y="1234440"/>
            <a:ext cx="1737360" cy="566928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2344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EONET API v3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0" y="1234440"/>
            <a:ext cx="1737360" cy="566928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2344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GEOGLOWS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892808"/>
            <a:ext cx="2011680" cy="5669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89280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 &amp; Spatial DB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51760" y="1892808"/>
            <a:ext cx="1737360" cy="566928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189280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4.2 + DRF 3.14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26280" y="1892808"/>
            <a:ext cx="1737360" cy="566928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189280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 + PostGIS 3.3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0" y="1892808"/>
            <a:ext cx="1737360" cy="566928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189280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5.3 + Redis 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551176"/>
            <a:ext cx="2011680" cy="566928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55117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Blockchain &amp; AI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51760" y="2551176"/>
            <a:ext cx="1737360" cy="566928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0" y="255117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^0.8.0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26280" y="2551176"/>
            <a:ext cx="1737360" cy="566928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28" name="Text 26"/>
          <p:cNvSpPr/>
          <p:nvPr/>
        </p:nvSpPr>
        <p:spPr>
          <a:xfrm>
            <a:off x="4617720" y="255117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Web3.py 6.15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0" y="2551176"/>
            <a:ext cx="1737360" cy="566928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255117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GPT-3.5 Turbo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3209544"/>
            <a:ext cx="2011680" cy="56692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20954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 &amp; Visualization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651760" y="3209544"/>
            <a:ext cx="1737360" cy="566928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0" y="320954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8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26280" y="3209544"/>
            <a:ext cx="1737360" cy="566928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6" name="Text 34"/>
          <p:cNvSpPr/>
          <p:nvPr/>
        </p:nvSpPr>
        <p:spPr>
          <a:xfrm>
            <a:off x="4617720" y="320954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ArcGIS Maps SDK 5.1.5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0" y="3209544"/>
            <a:ext cx="1737360" cy="566928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0" y="320954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3.9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3867912"/>
            <a:ext cx="2011680" cy="56692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386791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Messaging &amp; DevOps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51760" y="3867912"/>
            <a:ext cx="1737360" cy="566928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0" y="386791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SMS 8.11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26280" y="3867912"/>
            <a:ext cx="1737360" cy="566928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44" name="Text 42"/>
          <p:cNvSpPr/>
          <p:nvPr/>
        </p:nvSpPr>
        <p:spPr>
          <a:xfrm>
            <a:off x="4617720" y="386791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Channels 4.0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400800" y="3867912"/>
            <a:ext cx="1737360" cy="566928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46" name="Text 44"/>
          <p:cNvSpPr/>
          <p:nvPr/>
        </p:nvSpPr>
        <p:spPr>
          <a:xfrm>
            <a:off x="6492240" y="386791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(5 services)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828800" y="4754880"/>
            <a:ext cx="5486400" cy="0"/>
          </a:xfrm>
          <a:prstGeom prst="rect">
            <a:avLst/>
          </a:prstGeom>
          <a:noFill/>
          <a:ln w="12700">
            <a:solidFill>
              <a:srgbClr val="2A2F3E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SDG Alignment &amp; Roadmap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Nations Sustainable Development Goals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617720"/>
            <a:ext cx="8229600" cy="0"/>
          </a:xfrm>
          <a:prstGeom prst="line">
            <a:avLst/>
          </a:prstGeom>
          <a:noFill/>
          <a:ln w="6350">
            <a:solidFill>
              <a:srgbClr val="2A2F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80160"/>
            <a:ext cx="2011680" cy="164592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1371600"/>
            <a:ext cx="457200" cy="45720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Poverty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post-disaster liquidity prevents farm bankruptcy and the poverty spiral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8880" y="1280160"/>
            <a:ext cx="2011680" cy="164592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371600"/>
            <a:ext cx="457200" cy="457200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60320" y="1920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 Hunger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farmers = protecting food supply chains in vulnerable regions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63440" y="1280160"/>
            <a:ext cx="2011680" cy="164592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40680" y="137160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54406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54880" y="1920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Climate Action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 monitoring ties premiums to sustainable practices; incentivizes climate-resilient farming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858000" y="1280160"/>
            <a:ext cx="2011680" cy="164592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35240" y="137160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76352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49440" y="1920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Industry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Innovation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4944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GNSS + Web3 insurance infrastructure for African agriculture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3-Year Roadmap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463040" y="3429000"/>
            <a:ext cx="182880" cy="1828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9" name="Shape 27"/>
          <p:cNvSpPr/>
          <p:nvPr/>
        </p:nvSpPr>
        <p:spPr>
          <a:xfrm>
            <a:off x="1645920" y="3520440"/>
            <a:ext cx="2560320" cy="0"/>
          </a:xfrm>
          <a:prstGeom prst="line">
            <a:avLst/>
          </a:prstGeom>
          <a:noFill/>
          <a:ln w="12700">
            <a:solidFill>
              <a:srgbClr val="3A3F4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657600"/>
            <a:ext cx="2651760" cy="86868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657600"/>
            <a:ext cx="265176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7307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 1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4360" y="40050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Kenya + Nigeria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farmers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pipeline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297680" y="3429000"/>
            <a:ext cx="182880" cy="18288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5" name="Shape 33"/>
          <p:cNvSpPr/>
          <p:nvPr/>
        </p:nvSpPr>
        <p:spPr>
          <a:xfrm>
            <a:off x="4480560" y="3520440"/>
            <a:ext cx="2560320" cy="0"/>
          </a:xfrm>
          <a:prstGeom prst="line">
            <a:avLst/>
          </a:prstGeom>
          <a:noFill/>
          <a:ln w="12700">
            <a:solidFill>
              <a:srgbClr val="3A3F4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91840" y="3657600"/>
            <a:ext cx="2651760" cy="86868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91840" y="3657600"/>
            <a:ext cx="2651760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8" name="Text 36"/>
          <p:cNvSpPr/>
          <p:nvPr/>
        </p:nvSpPr>
        <p:spPr>
          <a:xfrm>
            <a:off x="3383280" y="37307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 2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429000" y="40050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25,000 farmers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GEOGLOWS floods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USSD channel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132320" y="3429000"/>
            <a:ext cx="182880" cy="182880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41" name="Shape 39"/>
          <p:cNvSpPr/>
          <p:nvPr/>
        </p:nvSpPr>
        <p:spPr>
          <a:xfrm>
            <a:off x="6126480" y="3657600"/>
            <a:ext cx="2651760" cy="86868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26480" y="3657600"/>
            <a:ext cx="2651760" cy="36576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43" name="Text 41"/>
          <p:cNvSpPr/>
          <p:nvPr/>
        </p:nvSpPr>
        <p:spPr>
          <a:xfrm>
            <a:off x="6217920" y="37307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 3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263640" y="40050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50,000+ farmers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soil validation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↓ bankruptcy rate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Code Snippets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pipeline components from actual project files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617720"/>
            <a:ext cx="8229600" cy="0"/>
          </a:xfrm>
          <a:prstGeom prst="line">
            <a:avLst/>
          </a:prstGeom>
          <a:noFill/>
          <a:ln w="6350">
            <a:solidFill>
              <a:srgbClr val="2A2F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71600"/>
            <a:ext cx="2011680" cy="3291840"/>
          </a:xfrm>
          <a:prstGeom prst="rect">
            <a:avLst/>
          </a:prstGeom>
          <a:solidFill>
            <a:srgbClr val="14192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71600"/>
            <a:ext cx="2011680" cy="3200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399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Spatial Query (core/tasks.py)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783080"/>
            <a:ext cx="1828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PostGIS ST_Intersects — GNSS meets EO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affected_farms = Farm.objects.filter(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location__intersects=event.affected_area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Parametric: pure math, no human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payout = 500.00 * event.severity_level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468880" y="1371600"/>
            <a:ext cx="2011680" cy="3291840"/>
          </a:xfrm>
          <a:prstGeom prst="rect">
            <a:avLst/>
          </a:prstGeom>
          <a:solidFill>
            <a:srgbClr val="14192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371600"/>
            <a:ext cx="2011680" cy="3200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399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Web3 Payout (core/tasks.py)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60320" y="1783080"/>
            <a:ext cx="1828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Smart contract auto-payout via Web3.py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w3 = Web3(Web3.HTTPProvider(web3_url))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signed_tx = w3.eth.account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.sign_transaction(tx, private_key)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tx_hash = w3.eth.send_raw_transaction(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signed_tx.rawTransaction)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2011680" cy="3291840"/>
          </a:xfrm>
          <a:prstGeom prst="rect">
            <a:avLst/>
          </a:prstGeom>
          <a:solidFill>
            <a:srgbClr val="14192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371600"/>
            <a:ext cx="2011680" cy="320040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399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NASA Ingest (fetch_nasa_eonet.py)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0" y="1783080"/>
            <a:ext cx="1828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Point → 50km buffer polygon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 = Point(coords[0], coords[1], srid=4326)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point.transform(3857)        # WGS84→Mercator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affected_area = point.buffer(50000)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affected_area.transform(4326) # Mercator→WGS84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858000" y="1371600"/>
            <a:ext cx="2011680" cy="3291840"/>
          </a:xfrm>
          <a:prstGeom prst="rect">
            <a:avLst/>
          </a:prstGeom>
          <a:solidFill>
            <a:srgbClr val="14192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1371600"/>
            <a:ext cx="2011680" cy="3200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1399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Solidity Contract (AgriGuardParametric.sol)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949440" y="1783080"/>
            <a:ext cx="1828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triggerPayout(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uint256 _policyId,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memory _disasterType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public {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require(msg.sender == oracleAdmin);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Policy storage p = policies[_policyId];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require(p.isActive);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p.isActive = false; // No double-payouts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payable(p.farmerWallet).transfer(p.coverageAmount);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2E7D32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200400"/>
            <a:ext cx="3657600" cy="3657600"/>
          </a:xfrm>
          <a:prstGeom prst="ellipse">
            <a:avLst/>
          </a:prstGeom>
          <a:solidFill>
            <a:srgbClr val="1565C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731520"/>
            <a:ext cx="73152" cy="9144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0" y="6400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AGRIGUARD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1645920" cy="100584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057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3 min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Settlement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0" y="2011680"/>
            <a:ext cx="1645920" cy="100584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34640" y="2057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3464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Cost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011680"/>
            <a:ext cx="1645920" cy="100584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2057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488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120" y="2011680"/>
            <a:ext cx="1645920" cy="100584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2057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Languages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67512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/ FR / SW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Galileo GNSS  ·  NASA EONET  ·  PostGIS  ·  Solidity  ·  Web3.py  ·  OpenAI  ·  Twilio  ·  ArcGIS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3794760"/>
            <a:ext cx="5486400" cy="0"/>
          </a:xfrm>
          <a:prstGeom prst="line">
            <a:avLst/>
          </a:prstGeom>
          <a:noFill/>
          <a:ln w="6350">
            <a:solidFill>
              <a:srgbClr val="2A2F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Earth speaks, farmers get paid.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AgriGuard  ·  Hackathon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AgriGuard — Zero-Touch Parametric Insurance for Africa's Smallholder Farmers</dc:title>
  <dc:subject>PptxGenJS Presentation</dc:subject>
  <dc:creator>AgriGuard Team</dc:creator>
  <cp:lastModifiedBy>AgriGuard Team</cp:lastModifiedBy>
  <cp:revision>1</cp:revision>
  <dcterms:created xsi:type="dcterms:W3CDTF">2026-07-07T14:09:32Z</dcterms:created>
  <dcterms:modified xsi:type="dcterms:W3CDTF">2026-07-07T14:09:32Z</dcterms:modified>
</cp:coreProperties>
</file>