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4d935d829484ca3" /><Relationship Type="http://schemas.openxmlformats.org/officeDocument/2006/relationships/extended-properties" Target="/docProps/app.xml" Id="Re7da45615f53479b" /><Relationship Type="http://schemas.openxmlformats.org/officeDocument/2006/relationships/officeDocument" Target="/ppt/presentation.xml" Id="Reb99efa07dfe42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8ccc949e092448e"/>
  </p:sldMasterIdLst>
  <p:notesMasterIdLst>
    <p:notesMasterId xmlns:r="http://schemas.openxmlformats.org/officeDocument/2006/relationships" r:id="Rd834edb8631c447a"/>
  </p:notesMasterIdLst>
  <p:sldIdLst>
    <p:sldId xmlns:r="http://schemas.openxmlformats.org/officeDocument/2006/relationships" id="256" r:id="R51bc472c6b3548b1"/>
    <p:sldId xmlns:r="http://schemas.openxmlformats.org/officeDocument/2006/relationships" id="257" r:id="R715de1f38ab14c91"/>
    <p:sldId xmlns:r="http://schemas.openxmlformats.org/officeDocument/2006/relationships" id="258" r:id="R9927ebc9754d47b2"/>
    <p:sldId xmlns:r="http://schemas.openxmlformats.org/officeDocument/2006/relationships" id="259" r:id="R7b4af27765ee41eb"/>
    <p:sldId xmlns:r="http://schemas.openxmlformats.org/officeDocument/2006/relationships" id="260" r:id="Re6988e6e061a4699"/>
    <p:sldId xmlns:r="http://schemas.openxmlformats.org/officeDocument/2006/relationships" id="261" r:id="R9028909f445445c7"/>
    <p:sldId xmlns:r="http://schemas.openxmlformats.org/officeDocument/2006/relationships" id="262" r:id="Rcbafc02e4ce44f19"/>
    <p:sldId xmlns:r="http://schemas.openxmlformats.org/officeDocument/2006/relationships" id="263" r:id="R76d452a469fc4234"/>
    <p:sldId xmlns:r="http://schemas.openxmlformats.org/officeDocument/2006/relationships" id="264" r:id="Rd1fdc9226c054c0e"/>
    <p:sldId xmlns:r="http://schemas.openxmlformats.org/officeDocument/2006/relationships" id="265" r:id="R57f5578549dc4979"/>
    <p:sldId xmlns:r="http://schemas.openxmlformats.org/officeDocument/2006/relationships" id="266" r:id="R17ddf549fdf0427f"/>
    <p:sldId xmlns:r="http://schemas.openxmlformats.org/officeDocument/2006/relationships" id="267" r:id="R88f425eb8fc44ed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0e0115dd3b04ac1" /><Relationship Type="http://schemas.openxmlformats.org/officeDocument/2006/relationships/slideMaster" Target="/ppt/slideMasters/slideMaster1.xml" Id="R48ccc949e092448e" /><Relationship Type="http://schemas.openxmlformats.org/officeDocument/2006/relationships/notesMaster" Target="/ppt/notesMasters/notesMaster1.xml" Id="Rd834edb8631c447a" /><Relationship Type="http://schemas.openxmlformats.org/officeDocument/2006/relationships/presProps" Target="/ppt/presProps.xml" Id="Re2997597e44f4822" /><Relationship Type="http://schemas.openxmlformats.org/officeDocument/2006/relationships/tableStyles" Target="/ppt/tableStyles.xml" Id="R04a04625d706487c" /><Relationship Type="http://schemas.openxmlformats.org/officeDocument/2006/relationships/slide" Target="/ppt/slides/slide1.xml" Id="R51bc472c6b3548b1" /><Relationship Type="http://schemas.openxmlformats.org/officeDocument/2006/relationships/slide" Target="/ppt/slides/slide2.xml" Id="R715de1f38ab14c91" /><Relationship Type="http://schemas.openxmlformats.org/officeDocument/2006/relationships/slide" Target="/ppt/slides/slide3.xml" Id="R9927ebc9754d47b2" /><Relationship Type="http://schemas.openxmlformats.org/officeDocument/2006/relationships/slide" Target="/ppt/slides/slide4.xml" Id="R7b4af27765ee41eb" /><Relationship Type="http://schemas.openxmlformats.org/officeDocument/2006/relationships/slide" Target="/ppt/slides/slide5.xml" Id="Re6988e6e061a4699" /><Relationship Type="http://schemas.openxmlformats.org/officeDocument/2006/relationships/slide" Target="/ppt/slides/slide6.xml" Id="R9028909f445445c7" /><Relationship Type="http://schemas.openxmlformats.org/officeDocument/2006/relationships/slide" Target="/ppt/slides/slide7.xml" Id="Rcbafc02e4ce44f19" /><Relationship Type="http://schemas.openxmlformats.org/officeDocument/2006/relationships/slide" Target="/ppt/slides/slide8.xml" Id="R76d452a469fc4234" /><Relationship Type="http://schemas.openxmlformats.org/officeDocument/2006/relationships/slide" Target="/ppt/slides/slide9.xml" Id="Rd1fdc9226c054c0e" /><Relationship Type="http://schemas.openxmlformats.org/officeDocument/2006/relationships/slide" Target="/ppt/slides/slide10.xml" Id="R57f5578549dc4979" /><Relationship Type="http://schemas.openxmlformats.org/officeDocument/2006/relationships/slide" Target="/ppt/slides/slide11.xml" Id="R17ddf549fdf0427f" /><Relationship Type="http://schemas.openxmlformats.org/officeDocument/2006/relationships/slide" Target="/ppt/slides/slide12.xml" Id="R88f425eb8fc44ed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75f256c26b04f8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2844f9e3d3a4b76" /><Relationship Type="http://schemas.openxmlformats.org/officeDocument/2006/relationships/notesMaster" Target="/ppt/notesMasters/notesMaster1.xml" Id="R16d0b5bbed864db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46876097ec747c0" /><Relationship Type="http://schemas.openxmlformats.org/officeDocument/2006/relationships/notesMaster" Target="/ppt/notesMasters/notesMaster1.xml" Id="R3ca10ec118dd4e6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493f061e9eb49ca" /><Relationship Type="http://schemas.openxmlformats.org/officeDocument/2006/relationships/notesMaster" Target="/ppt/notesMasters/notesMaster1.xml" Id="R783a0fd2a4c94cc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aeccaf68651458f" /><Relationship Type="http://schemas.openxmlformats.org/officeDocument/2006/relationships/notesMaster" Target="/ppt/notesMasters/notesMaster1.xml" Id="R6d670c8342784e9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69f85f8db5f46ad" /><Relationship Type="http://schemas.openxmlformats.org/officeDocument/2006/relationships/notesMaster" Target="/ppt/notesMasters/notesMaster1.xml" Id="Ra7f76b3815a7445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4a7a9af75ba4975" /><Relationship Type="http://schemas.openxmlformats.org/officeDocument/2006/relationships/notesMaster" Target="/ppt/notesMasters/notesMaster1.xml" Id="Rbd3bb8886a14469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79fda0faabe4d96" /><Relationship Type="http://schemas.openxmlformats.org/officeDocument/2006/relationships/notesMaster" Target="/ppt/notesMasters/notesMaster1.xml" Id="R9be58c525f3649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f41030e12364ee6" /><Relationship Type="http://schemas.openxmlformats.org/officeDocument/2006/relationships/notesMaster" Target="/ppt/notesMasters/notesMaster1.xml" Id="R94429dc2ab91475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2352de3522b47fa" /><Relationship Type="http://schemas.openxmlformats.org/officeDocument/2006/relationships/notesMaster" Target="/ppt/notesMasters/notesMaster1.xml" Id="Rf709fd51523f4b8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3879e68568c4b63" /><Relationship Type="http://schemas.openxmlformats.org/officeDocument/2006/relationships/notesMaster" Target="/ppt/notesMasters/notesMaster1.xml" Id="R301b841b7f8b47b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c1bbb81ed2a40c5" /><Relationship Type="http://schemas.openxmlformats.org/officeDocument/2006/relationships/notesMaster" Target="/ppt/notesMasters/notesMaster1.xml" Id="R0989f292bb0a477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93528df77f54b32" /><Relationship Type="http://schemas.openxmlformats.org/officeDocument/2006/relationships/notesMaster" Target="/ppt/notesMasters/notesMaster1.xml" Id="R974c62045890452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project README and verified live deployment at https://agri-guard-api-live.vercel.app. Public demo inspection on 15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project submission materials and cited climate insurance benchmarks. Market and impact figures are targets or external benchmarks, not measured AgriGuard results.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README.md, docs/TRIGGER_LOGIC_AND_CODE.md, and the public demo. The implemented workflow and roadmap are separated explicitly.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docs/ARCHITECTURE.md, core/models.py, core/engine.py, core/tasks.py, and frontend component structure.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public demo inspection on 15 September 2026. The map includes live ArcGIS layers while the demo threshold metrics are labeled as simulated.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core/engine.py and core/tests.py. The table is a crop-specific example and does not imply that every hazard source is production-grade.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core/tasks.py and live claim records inspected on 15 September 2026. The screenshot shows PENDING because the public demo has no Web3 credentials.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core/services/blockchain_service.py, core/tasks.py, and docs/SUBMISSION_FULL.md. The reference Solidity contract is not called by the current MVP.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frontend/src/components/ReportQueryPanel.jsx, frontend/src/components/SmsMockup.jsx, core/tasks.py, and core/services/llm_service.py.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docs/IMPACT_AND_MARKET.md and README.md. Targets and external benchmarks are shown as such.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 roadmap and docs/IMPACT_AND_MARKET.md. Dates are planning targets and require partner validation.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live deployment and repository README. The public demo remains in a truthful PENDING state without Web3 configuration.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45902b755943a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23987ead77b4ead" /><Relationship Type="http://schemas.openxmlformats.org/officeDocument/2006/relationships/slideLayout" Target="/ppt/slideLayouts/slideLayout1.xml" Id="Rb8b9a25fdf3a42a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b9a25fdf3a42a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029b32c1ce4660" /><Relationship Type="http://schemas.openxmlformats.org/officeDocument/2006/relationships/image" Target="/ppt/media/image.png" Id="Re4ece1eec6254d10" /><Relationship Type="http://schemas.openxmlformats.org/officeDocument/2006/relationships/notesSlide" Target="/ppt/notesSlides/notesSlide1.xml" Id="R964570f4f9a1454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b0a5278b164956" /><Relationship Type="http://schemas.openxmlformats.org/officeDocument/2006/relationships/notesSlide" Target="/ppt/notesSlides/notesSlide2.xml" Id="R76f941120c2d421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951cf62f3e4147" /><Relationship Type="http://schemas.openxmlformats.org/officeDocument/2006/relationships/notesSlide" Target="/ppt/notesSlides/notesSlide3.xml" Id="R9c77ffc9e586495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d95908b6dc49d2" /><Relationship Type="http://schemas.openxmlformats.org/officeDocument/2006/relationships/notesSlide" Target="/ppt/notesSlides/notesSlide4.xml" Id="R4a27183ce077405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9dbcdbdcdc4aaf" /><Relationship Type="http://schemas.openxmlformats.org/officeDocument/2006/relationships/image" Target="/ppt/media/image2.png" Id="Rca73b79ccfac4e27" /><Relationship Type="http://schemas.openxmlformats.org/officeDocument/2006/relationships/notesSlide" Target="/ppt/notesSlides/notesSlide5.xml" Id="Rb68f377220a74ed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f8f876ccd04fc5" /><Relationship Type="http://schemas.openxmlformats.org/officeDocument/2006/relationships/notesSlide" Target="/ppt/notesSlides/notesSlide6.xml" Id="Rb81e30f1b80d4ee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a69ecbe11c4ab2" /><Relationship Type="http://schemas.openxmlformats.org/officeDocument/2006/relationships/image" Target="/ppt/media/image3.png" Id="R77037150ad7949f5" /><Relationship Type="http://schemas.openxmlformats.org/officeDocument/2006/relationships/notesSlide" Target="/ppt/notesSlides/notesSlide7.xml" Id="Rdec89d1a304b4bf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d5de2378b54f36" /><Relationship Type="http://schemas.openxmlformats.org/officeDocument/2006/relationships/notesSlide" Target="/ppt/notesSlides/notesSlide8.xml" Id="Rac1994c5f9bf4e7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7e21e7289948b3" /><Relationship Type="http://schemas.openxmlformats.org/officeDocument/2006/relationships/image" Target="/ppt/media/image4.png" Id="R2c9286ec635b4310" /><Relationship Type="http://schemas.openxmlformats.org/officeDocument/2006/relationships/image" Target="/ppt/media/image5.png" Id="Re1a51a6fa5b64294" /><Relationship Type="http://schemas.openxmlformats.org/officeDocument/2006/relationships/notesSlide" Target="/ppt/notesSlides/notesSlide9.xml" Id="R9f9450e230e346e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665133d4454681" /><Relationship Type="http://schemas.openxmlformats.org/officeDocument/2006/relationships/notesSlide" Target="/ppt/notesSlides/notesSlide10.xml" Id="R9beb597f8f36402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addbb776ba48f8" /><Relationship Type="http://schemas.openxmlformats.org/officeDocument/2006/relationships/notesSlide" Target="/ppt/notesSlides/notesSlide11.xml" Id="Rdda8e8eba8a94fe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d2b795720a4674" /><Relationship Type="http://schemas.openxmlformats.org/officeDocument/2006/relationships/notesSlide" Target="/ppt/notesSlides/notesSlide12.xml" Id="R99689d500a0d41b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3D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EE5C27-29F6-4ADD-A99E-755626316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B06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70D4F3-14F7-410E-89C2-97375090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AGRIGUARD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144E5B-4FB1-443F-9DD1-312202F9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DDE9E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DE9E2"/>
                </a:solidFill>
                <a:latin typeface="Arial"/>
                <a:ea typeface="Arial"/>
                <a:cs typeface="Arial"/>
              </a:rPr>
              <a:t>GNSS-anchored parametric insurance and early warning for African smallholder farmers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88FAC0-72DD-44A5-B598-6D16F3BC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B06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10EF66-E393-4BE2-B159-BAAA569BB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DE9E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DE9E2"/>
                </a:solidFill>
                <a:latin typeface="Arial"/>
                <a:ea typeface="Arial"/>
                <a:cs typeface="Arial"/>
              </a:rPr>
              <a:t>GNSS boundaries</a:t>
            </a:r>
          </a:p>
          <a:p xmlns:a="http://schemas.openxmlformats.org/drawingml/2006/main">
            <a:pPr>
              <a:defRPr sz="1350" b="0">
                <a:solidFill>
                  <a:srgbClr val="DDE9E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DE9E2"/>
                </a:solidFill>
                <a:latin typeface="Arial"/>
                <a:ea typeface="Arial"/>
                <a:cs typeface="Arial"/>
              </a:rPr>
              <a:t>Earth observation</a:t>
            </a:r>
          </a:p>
          <a:p xmlns:a="http://schemas.openxmlformats.org/drawingml/2006/main">
            <a:pPr>
              <a:defRPr sz="1350" b="0">
                <a:solidFill>
                  <a:srgbClr val="DDE9E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DE9E2"/>
                </a:solidFill>
                <a:latin typeface="Arial"/>
                <a:ea typeface="Arial"/>
                <a:cs typeface="Arial"/>
              </a:rPr>
              <a:t>Crop-specific rules</a:t>
            </a:r>
          </a:p>
          <a:p xmlns:a="http://schemas.openxmlformats.org/drawingml/2006/main">
            <a:pPr>
              <a:defRPr sz="1350" b="0">
                <a:solidFill>
                  <a:srgbClr val="DDE9E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DE9E2"/>
                </a:solidFill>
                <a:latin typeface="Arial"/>
                <a:ea typeface="Arial"/>
                <a:cs typeface="Arial"/>
              </a:rPr>
              <a:t>Auditable settlement status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CBEDBB-790E-40CD-B593-02BA2686C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9C5B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9C5B5"/>
                </a:solidFill>
                <a:latin typeface="Arial"/>
                <a:ea typeface="Arial"/>
                <a:cs typeface="Arial"/>
              </a:rPr>
              <a:t>Public demo  |  September 2026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ece1eec6254d1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781050"/>
            <a:ext cx="5334000" cy="3333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367750-D0C4-4B6E-92E7-AA95B4E6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29100"/>
            <a:ext cx="5334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F3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EDFA70-72CB-4920-9EDC-0DF3F0B17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495800"/>
            <a:ext cx="4838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hazard signal to auditable claim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0D568E-8E38-4710-8613-95A7273B1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9149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C7DBD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7DBD0"/>
                </a:solidFill>
                <a:latin typeface="Arial"/>
                <a:ea typeface="Arial"/>
                <a:cs typeface="Arial"/>
              </a:rPr>
              <a:t>The public demo keeps settlement in PENDING mode when Web3 credentials are not configured.</a:t>
            </a:r>
          </a:p>
        </p:txBody>
      </p:sp>
    </p:spTree>
    <p:extLst>
      <p:ext uri="{BB962C8B-B14F-4D97-AF65-F5344CB8AC3E}">
        <p14:creationId xmlns:p14="http://schemas.microsoft.com/office/powerpoint/2010/main" val="19929089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484056-5015-40A9-B6C1-690A3A9E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2251F"/>
                </a:solidFill>
                <a:latin typeface="Arial"/>
                <a:ea typeface="Arial"/>
                <a:cs typeface="Arial"/>
              </a:rPr>
              <a:t>The insurance gap for smallholder farms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69FCBF-90C9-4C65-A599-87803C20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Traditional field verification does not scale to small, dispersed plots.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11C3D6-E7D9-4CC8-8757-773856B14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04925"/>
            <a:ext cx="1066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191DEE-031C-4492-8EE9-7205940E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723485-7F02-4AD5-B218-F7BAE53BC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AgriGuard  |  G4-SAA Challenge II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D27ECB-7D71-45C8-8C37-0080EAAF6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5627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1D302E-B6F0-4EA1-94FE-066AF16F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193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EE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AC7C26-B105-421A-B6EC-9E08E43A6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71675"/>
            <a:ext cx="2076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C96B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C96B3B"/>
                </a:solidFill>
                <a:latin typeface="Arial"/>
                <a:ea typeface="Arial"/>
                <a:cs typeface="Arial"/>
              </a:rPr>
              <a:t>$9.3B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65777A-119B-455A-8D5F-44DA13293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71750"/>
            <a:ext cx="2038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Annual climate-related crop losses in Africa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4C2A93-D0C2-4E9D-BEB1-1E749A90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790700"/>
            <a:ext cx="24193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9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622163-CB5C-4A04-B116-6751669C8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971675"/>
            <a:ext cx="2076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D9A44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D9A441"/>
                </a:solidFill>
                <a:latin typeface="Arial"/>
                <a:ea typeface="Arial"/>
                <a:cs typeface="Arial"/>
              </a:rPr>
              <a:t>&lt;3%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B46A4E-2B28-4728-BD18-87F37B4AC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571750"/>
            <a:ext cx="2038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Agricultural insurance penetration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1F6AB4-5732-4688-899B-66B968119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90700"/>
            <a:ext cx="24193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EE6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A8E96E-FBBE-4C32-86F6-91F47514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71675"/>
            <a:ext cx="2076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4-12 weeks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8722BE-60DB-405A-97FD-89B9C3719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71750"/>
            <a:ext cx="2038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Common manual claim cycle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6B57FB-E9FD-412F-94D4-3143BD5D3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790700"/>
            <a:ext cx="24193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9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25F8AE-6B17-4BD4-8223-96F8AF0CB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076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C96B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C96B3B"/>
                </a:solidFill>
                <a:latin typeface="Arial"/>
                <a:ea typeface="Arial"/>
                <a:cs typeface="Arial"/>
              </a:rPr>
              <a:t>10-15%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2AD7D0-6A97-4CAB-9C6B-CFA1C3B86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71750"/>
            <a:ext cx="2038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Fraud risk cited for subjective claims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80C798-F43D-453D-A21D-2983FC68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2251F"/>
                </a:solidFill>
                <a:latin typeface="Arial"/>
                <a:ea typeface="Arial"/>
                <a:cs typeface="Arial"/>
              </a:rPr>
              <a:t>The operational problem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C12817-EF90-45BB-B1DC-4F195FA1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666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Manual loss adjustment requires field visits, paperwork, and subjective assessment. Those costs are difficult to recover on small policies, so many farms remain excluded.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33EDFE-D4CE-4659-89ED-60C61D511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43350"/>
            <a:ext cx="3714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AgriGuard evaluates a measurable hazard footprint against a GNSS-defined farm boundary. The goal is faster evidence collection and a transparent claim status, not automated blame or payout without controls.</a:t>
            </a:r>
          </a:p>
        </p:txBody>
      </p:sp>
    </p:spTree>
    <p:extLst>
      <p:ext uri="{BB962C8B-B14F-4D97-AF65-F5344CB8AC3E}">
        <p14:creationId xmlns:p14="http://schemas.microsoft.com/office/powerpoint/2010/main" val="15687807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C278EE-3CB5-4D02-BF3B-47E7D156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2251F"/>
                </a:solidFill>
                <a:latin typeface="Arial"/>
                <a:ea typeface="Arial"/>
                <a:cs typeface="Arial"/>
              </a:rPr>
              <a:t>AgriGuard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87A1F6-2D61-4DFD-82A5-FEFF6991F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Each step produces an inspectable record that can be audited.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BB608E-8E3B-4638-AC3B-7C6E72A26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04925"/>
            <a:ext cx="1066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1E883B-E515-48BB-8716-BD7A20BCD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A9FA90-B596-4343-A938-BCD7A4E3B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AgriGuard  |  G4-SAA Challenge II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C29A3B-282E-4A68-A908-89CCA55D2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5627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22C243-63A8-4B59-AACB-0E99865B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F37F97-D214-47B6-936A-95AB7133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2251F"/>
                </a:solidFill>
                <a:latin typeface="Arial"/>
                <a:ea typeface="Arial"/>
                <a:cs typeface="Arial"/>
              </a:rPr>
              <a:t>Capture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03D5A5-EE6C-49D9-ADAB-9C703846D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18859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GNSS/WGS84 farm polygon with optional receiver, accuracy, and capture-time metadata.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D2DB7C-71FA-4ADD-836B-14E4DED6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028825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B069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CAB286-E95C-40BF-A64E-D0CF7B6C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80975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48FB23-0900-4E46-BF31-64791BF3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2479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2251F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D58A4B-3E31-4842-8287-2ABE7BBE4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705100"/>
            <a:ext cx="18859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PostGIS intersects the farm boundary with an event footprint or labeled demo area.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DE8B28-DA50-41DD-A3B5-B79F6FA28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28825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B069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F011A9-A5CA-4679-A3D7-39E6349D8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0975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9D11F4-BEE7-46FA-86DD-79DE7E91B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2479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2251F"/>
                </a:solidFill>
                <a:latin typeface="Arial"/>
                <a:ea typeface="Arial"/>
                <a:cs typeface="Arial"/>
              </a:rPr>
              <a:t>Evaluate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AB9CD0-30DC-4C6D-B8A2-A5019350C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705100"/>
            <a:ext cx="18859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Crop-specific flood, wildfire, drought, and heatwave rules calculate confidence.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B17CD0-5B19-4601-A378-AFB0049E3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028825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B069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42392D-7B7C-491F-93BF-EB4DD9797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0975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DCB43A-824D-4CEF-A03A-CEC93A78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479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2251F"/>
                </a:solidFill>
                <a:latin typeface="Arial"/>
                <a:ea typeface="Arial"/>
                <a:cs typeface="Arial"/>
              </a:rPr>
              <a:t>Record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68BFBB-994D-40A5-BE8C-68AA27F76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05100"/>
            <a:ext cx="18859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A claim, SHA-256 evidence hash, alert, and timeline are created.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9E4ED0-2995-4349-886C-01AFC344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028825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B069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47B588-90CE-4BBD-ACDD-D991DD82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80975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A2FBA6-539D-480C-8508-7348DFD4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2479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2251F"/>
                </a:solidFill>
                <a:latin typeface="Arial"/>
                <a:ea typeface="Arial"/>
                <a:cs typeface="Arial"/>
              </a:rPr>
              <a:t>Settle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425E5F-A94B-447E-AA9F-5F552FD97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705100"/>
            <a:ext cx="18859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A configured ERC-20 transfer is attempted. Otherwise the claim remains PENDING.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2066E0-7FEC-4CE6-ACF0-FC022A25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51F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557061-AABF-46E7-97AD-0781223E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FB06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B069"/>
                </a:solidFill>
                <a:latin typeface="Arial"/>
                <a:ea typeface="Arial"/>
                <a:cs typeface="Arial"/>
              </a:rPr>
              <a:t>Evidence boundary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3EDFB89-086E-4F07-B6CD-56C25DB53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9339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Live map layers are integrated. Threshold ingestion from GEOGLOWS and VIIRS remains roadmap work. Public demos label simulated metrics and never fabricate a transaction hash.</a:t>
            </a:r>
          </a:p>
        </p:txBody>
      </p:sp>
    </p:spTree>
    <p:extLst>
      <p:ext uri="{BB962C8B-B14F-4D97-AF65-F5344CB8AC3E}">
        <p14:creationId xmlns:p14="http://schemas.microsoft.com/office/powerpoint/2010/main" val="19471354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5F4CDE-C9A5-4D50-BB37-A877FC875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2251F"/>
                </a:solidFill>
                <a:latin typeface="Arial"/>
                <a:ea typeface="Arial"/>
                <a:cs typeface="Arial"/>
              </a:rPr>
              <a:t>System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48A9BC-3A6E-4C01-8CB9-FFD9B0E47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A Django and PostGIS workflow with a replaceable data and settlement layer.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9104B0-C485-444C-9AD6-3FE9C70A6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04925"/>
            <a:ext cx="1066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1F558E-567E-42C2-875B-8689D42EB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19C321-7EC4-446A-B2DD-E3E3FAAC6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AgriGuard  |  G4-SAA Challenge II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35DFED-392E-469C-B6B8-384768821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5627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440B12-20BD-4008-A8AE-4C75CC766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809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1BFEDE-5AEC-47A4-A5BD-4F00B008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1200"/>
            <a:ext cx="1466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F7E60A-E0CC-4386-BE9E-1E2A5F129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828800"/>
            <a:ext cx="8763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GNSS/WGS84 boundaries</a:t>
            </a:r>
          </a:p>
          <a:p xmlns:a="http://schemas.openxmlformats.org/drawingml/2006/main">
            <a:pPr>
              <a:defRPr sz="12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NASA EONET event footprints</a:t>
            </a:r>
          </a:p>
          <a:p xmlns:a="http://schemas.openxmlformats.org/drawingml/2006/main">
            <a:pPr>
              <a:defRPr sz="12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Esri Living Atlas map layers</a:t>
            </a:r>
          </a:p>
          <a:p xmlns:a="http://schemas.openxmlformats.org/drawingml/2006/main">
            <a:pPr>
              <a:defRPr sz="12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Labeled demo metrics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4C2118-4B49-4E65-B7F6-5A4F3D7DD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1809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67FEF3-5BCC-4AE0-8D13-2868174A3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1466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8297A1-EB6C-42BD-ADC6-E16729AE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800350"/>
            <a:ext cx="8763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Django REST API</a:t>
            </a:r>
          </a:p>
          <a:p xmlns:a="http://schemas.openxmlformats.org/drawingml/2006/main">
            <a:pPr>
              <a:defRPr sz="12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PostGIS ST_Intersects</a:t>
            </a:r>
          </a:p>
          <a:p xmlns:a="http://schemas.openxmlformats.org/drawingml/2006/main">
            <a:pPr>
              <a:defRPr sz="12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Crop-specific rule engine</a:t>
            </a:r>
          </a:p>
          <a:p xmlns:a="http://schemas.openxmlformats.org/drawingml/2006/main">
            <a:pPr>
              <a:defRPr sz="12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Celery tasks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F0335A-A387-4D24-A88E-8FCAD6F00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809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B3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898293-5C3B-4EBE-AC84-FB5B112C2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24300"/>
            <a:ext cx="1466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Records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E66B10-598A-41BE-8A90-3E1154602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771900"/>
            <a:ext cx="8763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Risk alert</a:t>
            </a:r>
          </a:p>
          <a:p xmlns:a="http://schemas.openxmlformats.org/drawingml/2006/main">
            <a:pPr>
              <a:defRPr sz="12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Claim and timeline</a:t>
            </a:r>
          </a:p>
          <a:p xmlns:a="http://schemas.openxmlformats.org/drawingml/2006/main">
            <a:pPr>
              <a:defRPr sz="12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SHA-256 evidence hash</a:t>
            </a:r>
          </a:p>
          <a:p xmlns:a="http://schemas.openxmlformats.org/drawingml/2006/main">
            <a:pPr>
              <a:defRPr sz="12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WebSocket update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9C6E66-BDB1-4350-B5A7-2F35FE87C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1809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6FA9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7B830E-D016-4135-8AB2-C02B4ED9D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1466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Delivery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732156-9A99-4DFE-8101-08F8683F7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743450"/>
            <a:ext cx="8763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React dashboard</a:t>
            </a:r>
          </a:p>
          <a:p xmlns:a="http://schemas.openxmlformats.org/drawingml/2006/main">
            <a:pPr>
              <a:defRPr sz="12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MapLibre and ArcGIS views</a:t>
            </a:r>
          </a:p>
          <a:p xmlns:a="http://schemas.openxmlformats.org/drawingml/2006/main">
            <a:pPr>
              <a:defRPr sz="12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SMS fallback path</a:t>
            </a:r>
          </a:p>
          <a:p xmlns:a="http://schemas.openxmlformats.org/drawingml/2006/main">
            <a:pPr>
              <a:defRPr sz="12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Seven-language UI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718414-7B33-4DB9-B33E-A0931EC0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Authoritative source files: core/models.py, core/engine.py, core/tasks.py, core/services/blockchain_service.py, frontend/src/components/MapView.jsx</a:t>
            </a:r>
          </a:p>
        </p:txBody>
      </p:sp>
    </p:spTree>
    <p:extLst>
      <p:ext uri="{BB962C8B-B14F-4D97-AF65-F5344CB8AC3E}">
        <p14:creationId xmlns:p14="http://schemas.microsoft.com/office/powerpoint/2010/main" val="9100129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7EC5D5-661F-453B-BC15-5F7AF6A0B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2251F"/>
                </a:solidFill>
                <a:latin typeface="Arial"/>
                <a:ea typeface="Arial"/>
                <a:cs typeface="Arial"/>
              </a:rPr>
              <a:t>Farm boundaries and live Earth observation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9AFCAA-9D6C-4CE4-9E68-8352A1469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The map combines operational context with a clearly labeled scenario runner.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A19652-CC20-4D3C-B1D3-BDCD4D1DF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04925"/>
            <a:ext cx="1066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DE4A65-8100-4EAA-92BB-E2473667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65019A-A910-4961-B87D-3BF7A406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AgriGuard  |  G4-SAA Challenge II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443A6E-E4B5-4BEB-9D6E-895F169BA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5627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73b79ccfac4e27"/>
          <a:srcRect xmlns:a="http://schemas.openxmlformats.org/drawingml/2006/main" l="0" t="1111" r="0" b="1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76400"/>
            <a:ext cx="6858000" cy="4191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3022DA-2840-4253-9CAF-A5F793A11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335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2251F"/>
                </a:solidFill>
                <a:latin typeface="Arial"/>
                <a:ea typeface="Arial"/>
                <a:cs typeface="Arial"/>
              </a:rPr>
              <a:t>What judges can verify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A1E386-8829-4BAA-831B-531963CE3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66950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Farm polygons are visible as GNSS/WGS84 geofences.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B54EBD-5039-428B-8669-2627109BD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95600"/>
            <a:ext cx="3333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ArcGIS Living Atlas layers provide VIIRS fire activity, GEOGLOWS streamflow, and stream gauges.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67F89A-AC33-436B-93D8-C1EFE28D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29050"/>
            <a:ext cx="3333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The scenario button posts to the real API and creates a new claim workflow. No fake payout or hash is produced.</a:t>
            </a:r>
          </a:p>
        </p:txBody>
      </p:sp>
    </p:spTree>
    <p:extLst>
      <p:ext uri="{BB962C8B-B14F-4D97-AF65-F5344CB8AC3E}">
        <p14:creationId xmlns:p14="http://schemas.microsoft.com/office/powerpoint/2010/main" val="18462551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77AFE9-D2B2-4C72-81C8-39499D79F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2251F"/>
                </a:solidFill>
                <a:latin typeface="Arial"/>
                <a:ea typeface="Arial"/>
                <a:cs typeface="Arial"/>
              </a:rPr>
              <a:t>Parametric decision rules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541C2A-8FE1-4E84-A939-AB7878042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Thresholds vary by crop and peril. The table shows maize examples from the current engine.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20A42E-8A9A-4859-8158-AF0A77B6A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04925"/>
            <a:ext cx="1066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09674B-7D47-41DC-A831-6969A8CD8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4B3CCC-1082-4EF6-9A00-5A9D199ED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AgriGuard  |  G4-SAA Challenge II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985639-CC93-4488-87F8-631138ED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5627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29908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394065"/>
                <a:gridCol w="4189615"/>
                <a:gridCol w="2593571"/>
                <a:gridCol w="1795549"/>
              </a:tblGrid>
              <a:tr h="59817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Peril</a:t>
                      </a:r>
                    </a:p>
                  </a:txBody>
                  <a:tcPr marL="91440" marR="91440" marT="45720" marB="45720"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Trigger tested by the engine</a:t>
                      </a:r>
                    </a:p>
                  </a:txBody>
                  <a:tcPr marL="91440" marR="91440" marT="45720" marB="45720"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 threshold</a:t>
                      </a:r>
                    </a:p>
                  </a:txBody>
                  <a:tcPr marL="91440" marR="91440" marT="45720" marB="45720"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Confidence</a:t>
                      </a:r>
                    </a:p>
                  </a:txBody>
                  <a:tcPr marL="91440" marR="91440" marT="45720" marB="45720">
                    <a:solidFill>
                      <a:srgbClr val="0B3D2E"/>
                    </a:solidFill>
                  </a:tcPr>
                </a:tc>
              </a:tr>
              <a:tr h="59817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Flood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Water depth and duration, optional rainfall anomaly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2.5 m for 3 days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0.85 to 0.95</a:t>
                      </a:r>
                    </a:p>
                  </a:txBody>
                  <a:tcPr marL="91440" marR="91440" marT="45720" marB="45720"/>
                </a:tc>
              </a:tr>
              <a:tr h="59817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Wildfire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Fire area intersecting the farm footprint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5 ha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0.99</a:t>
                      </a:r>
                    </a:p>
                  </a:txBody>
                  <a:tcPr marL="91440" marR="91440" marT="45720" marB="45720"/>
                </a:tc>
              </a:tr>
              <a:tr h="59817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Drought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Normalized Difference Water Index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NDWI below -0.2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0.90</a:t>
                      </a:r>
                    </a:p>
                  </a:txBody>
                  <a:tcPr marL="91440" marR="91440" marT="45720" marB="45720"/>
                </a:tc>
              </a:tr>
              <a:tr h="59817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Heatwave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Temperature anomaly and persistence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+2.0 C for 3 days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0.92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49B4BF-6586-446C-970C-AD2A5A67D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Area guardrail: 0.5 ha minimum, 5 ha maximum insured area for payout arithmetic.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840FBB-3299-4CAF-98F4-E3873C802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Claim value = $25 per hectare x capped insured area x severity x confidence. Severity levels below 3 apply a 50% partial-claim multiplier.</a:t>
            </a:r>
          </a:p>
        </p:txBody>
      </p:sp>
    </p:spTree>
    <p:extLst>
      <p:ext uri="{BB962C8B-B14F-4D97-AF65-F5344CB8AC3E}">
        <p14:creationId xmlns:p14="http://schemas.microsoft.com/office/powerpoint/2010/main" val="114345989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612C01-8745-40D0-B086-D0A03903B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2251F"/>
                </a:solidFill>
                <a:latin typeface="Arial"/>
                <a:ea typeface="Arial"/>
                <a:cs typeface="Arial"/>
              </a:rPr>
              <a:t>Claim lifecycle and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3CE155-9D37-49AD-AFA9-A85FA00A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A claim moves through a fixed status history with no fabricated payment state.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A0BD05-5365-4AD9-9405-88C1E4A95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04925"/>
            <a:ext cx="1066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38217F-BA8F-4677-8302-41C4D856D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BDA688-88E8-4C24-8781-40647CC4F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AgriGuard  |  G4-SAA Challenge II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29DFD7-CBD1-4152-A912-993A5F58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5627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037150ad7949f5"/>
          <a:srcRect xmlns:a="http://schemas.openxmlformats.org/drawingml/2006/main" l="0" t="61" r="0" b="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752600"/>
            <a:ext cx="6286500" cy="39243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0425E7-7FD2-426F-A182-E09F12089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8478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DETECTED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6E7735-9BC7-49A3-9C99-FF9E56091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38325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Hazard detected inside the geofence.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C7CBD4-D41B-49CB-843D-79C939662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955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VERIFIED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7B9117-188F-487C-85C8-C368E59B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486025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Confidence and GNSS metadata evaluated.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14B4FF-ADE8-4426-A1EC-6FE427AFF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1432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TRIGGERED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467CE1-3073-4497-8528-F436906F7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33725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Settlement processing starts.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F058D8-E3AC-454A-9526-B0C860E5C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7909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NOTIFIED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F1E647-FAD7-495A-9433-82168D51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781425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Farmer notification is dispatched or queued.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B9BADD-B2D9-4B0D-B8BE-D5295B24A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4386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96B3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C96B3B"/>
                </a:solidFill>
                <a:latin typeface="Arial"/>
                <a:ea typeface="Arial"/>
                <a:cs typeface="Arial"/>
              </a:rPr>
              <a:t>PENDING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8DAB0C-90BA-469A-B6C2-B7015826D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429125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No configured ERC-20 transfer, so no hash is stored.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1744A5-21EF-49FB-B781-7D8AE5000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39115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The evidence hash binds farm ID, event ID, event time, confidence, and GNSS metadata.</a:t>
            </a:r>
          </a:p>
        </p:txBody>
      </p:sp>
    </p:spTree>
    <p:extLst>
      <p:ext uri="{BB962C8B-B14F-4D97-AF65-F5344CB8AC3E}">
        <p14:creationId xmlns:p14="http://schemas.microsoft.com/office/powerpoint/2010/main" val="10380349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EAEADB-493A-411C-85A5-DDEB771C3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2251F"/>
                </a:solidFill>
                <a:latin typeface="Arial"/>
                <a:ea typeface="Arial"/>
                <a:cs typeface="Arial"/>
              </a:rPr>
              <a:t>Settlement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59EF71-E16D-422A-ADFB-9D32CB054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The same claim record supports a configured transfer or an explicit pending state.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857648-1C39-4D4B-82AE-6252D88C4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04925"/>
            <a:ext cx="1066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FF2A88-75F4-4EC8-B138-CE2B82A9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94865D-765E-463E-9FF3-A184289B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AgriGuard  |  G4-SAA Challenge II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74C978-B828-40F5-A51F-3510A05B1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5627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08FA27-562B-4927-9AA2-303D780E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52197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BC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7973D1-F10B-4BBE-9941-D5370DFDC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C96B3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96B3B"/>
                </a:solidFill>
                <a:latin typeface="Arial"/>
                <a:ea typeface="Arial"/>
                <a:cs typeface="Arial"/>
              </a:rPr>
              <a:t>Web3 not configured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3A1972-E4A3-495D-8BA8-FA7519F99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28900"/>
            <a:ext cx="4476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Claim status</a:t>
            </a:r>
          </a:p>
          <a:p xmlns:a="http://schemas.openxmlformats.org/drawingml/2006/main">
            <a:pPr>
              <a:defRPr sz="15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PENDING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Transaction hash</a:t>
            </a:r>
          </a:p>
          <a:p xmlns:a="http://schemas.openxmlformats.org/drawingml/2006/main">
            <a:pPr>
              <a:defRPr sz="15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Not recorded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Funds moved</a:t>
            </a:r>
          </a:p>
          <a:p xmlns:a="http://schemas.openxmlformats.org/drawingml/2006/main">
            <a:pPr>
              <a:defRPr sz="15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None in the public demo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515EFD-6C7C-4E90-B6BA-BF2571F59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752600"/>
            <a:ext cx="52197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EE6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2CF2BD-6707-4E7C-8C6B-0C91DE9A6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3835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Configured transfer succeeds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ADBF44-CBEA-42EE-81A3-69BC7C2C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28900"/>
            <a:ext cx="4476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Claim status</a:t>
            </a:r>
          </a:p>
          <a:p xmlns:a="http://schemas.openxmlformats.org/drawingml/2006/main">
            <a:pPr>
              <a:defRPr sz="15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PAID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Transaction hash</a:t>
            </a:r>
          </a:p>
          <a:p xmlns:a="http://schemas.openxmlformats.org/drawingml/2006/main">
            <a:pPr>
              <a:defRPr sz="15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Node-accepted hash stored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Funds moved</a:t>
            </a:r>
          </a:p>
          <a:p xmlns:a="http://schemas.openxmlformats.org/drawingml/2006/main">
            <a:pPr>
              <a:defRPr sz="15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ERC-20 transfer submitted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81DF46-1846-497D-9204-B54635760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85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Required configuration: WEB3_PROVIDER_URI, WEB3_PRIVATE_KEY, SMART_CONTRACT_ADDRESS, WEB3_PAYOUT_DECIMALS, and a valid farmer wallet.</a:t>
            </a:r>
          </a:p>
        </p:txBody>
      </p:sp>
    </p:spTree>
    <p:extLst>
      <p:ext uri="{BB962C8B-B14F-4D97-AF65-F5344CB8AC3E}">
        <p14:creationId xmlns:p14="http://schemas.microsoft.com/office/powerpoint/2010/main" val="41758611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F951A2-B3EC-4BFD-8236-AC4EE39F8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2251F"/>
                </a:solidFill>
                <a:latin typeface="Arial"/>
                <a:ea typeface="Arial"/>
                <a:cs typeface="Arial"/>
              </a:rPr>
              <a:t>Operator reports and farmer alerts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8475AB-03FB-4B01-8B5A-134ABB105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The same claim record drives reporting, export, AI fallback, and SMS status.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108553-C121-4E6F-A8CA-A766B75E3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04925"/>
            <a:ext cx="1066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8FF887-2F2F-47A1-ACBA-3B953CFCB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D5F83C-0E5C-4B16-B9FF-9AE67F686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AgriGuard  |  G4-SAA Challenge II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89857C-51F3-4D89-9D96-6BCC4374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5627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9286ec635b4310"/>
          <a:srcRect xmlns:a="http://schemas.openxmlformats.org/drawingml/2006/main" l="1339" t="0" r="13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752600"/>
            <a:ext cx="6229350" cy="4000500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a51a6fa5b64294"/>
          <a:srcRect xmlns:a="http://schemas.openxmlformats.org/drawingml/2006/main" l="4167" t="0" r="416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0900" y="1752600"/>
            <a:ext cx="4191000" cy="28575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D10499-8391-41DD-837F-6281A574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81965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Reporting: verified filters, CSV export, print-to-PDF, and confidence tracking.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941E9F-E48D-4FC0-98CF-5DEEBFB3E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353050"/>
            <a:ext cx="4191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2251F"/>
                </a:solidFill>
                <a:latin typeface="Arial"/>
                <a:ea typeface="Arial"/>
                <a:cs typeface="Arial"/>
              </a:rPr>
              <a:t>SMS: Twilio when configured, mock fallback otherwise. AI reports use the configured OpenAI model or a deterministic fallback.</a:t>
            </a:r>
          </a:p>
        </p:txBody>
      </p:sp>
    </p:spTree>
    <p:extLst>
      <p:ext uri="{BB962C8B-B14F-4D97-AF65-F5344CB8AC3E}">
        <p14:creationId xmlns:p14="http://schemas.microsoft.com/office/powerpoint/2010/main" val="6707146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4170DD-6605-47AC-A4EF-D28698C54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2251F"/>
                </a:solidFill>
                <a:latin typeface="Arial"/>
                <a:ea typeface="Arial"/>
                <a:cs typeface="Arial"/>
              </a:rPr>
              <a:t>Market and impact targets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A1F0D6-D704-4EC6-A0AE-0A4980BD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All figures on this slide describe targets or external benchmarks, not realized results.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87DAF0-FF5C-4D7E-B3FE-8CB3D00AE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04925"/>
            <a:ext cx="1066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6DA49C-A54E-4042-B03B-6D0D1EC8C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DFA89F-A08C-4E13-B0DB-02AD2025F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AgriGuard  |  G4-SAA Challenge II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A226B6-AD9F-4B26-ACA4-8C3226D4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5627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graphicFrame>
        <p:nvGraphicFramePr>
          <p:cNvPr id="20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6572250" cy="33528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464594"/>
                <a:gridCol w="2300287"/>
                <a:gridCol w="1807369"/>
              </a:tblGrid>
              <a:tr h="5588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Metric</a:t>
                      </a:r>
                    </a:p>
                  </a:txBody>
                  <a:tcPr marL="91440" marR="91440" marT="45720" marB="45720"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Traditional benchmark</a:t>
                      </a:r>
                    </a:p>
                  </a:txBody>
                  <a:tcPr marL="91440" marR="91440" marT="45720" marB="45720"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AgriGuard target</a:t>
                      </a:r>
                    </a:p>
                  </a:txBody>
                  <a:tcPr marL="91440" marR="91440" marT="45720" marB="45720">
                    <a:solidFill>
                      <a:srgbClr val="0B3D2E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Claim cycle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4 to 12 weeks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Minutes after verified data</a:t>
                      </a:r>
                    </a:p>
                  </a:txBody>
                  <a:tcPr marL="91440" marR="91440" marT="45720" marB="45720"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Routine verification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$50 to $200 per claim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Materially lower through spatial automation</a:t>
                      </a:r>
                    </a:p>
                  </a:txBody>
                  <a:tcPr marL="91440" marR="91440" marT="45720" marB="45720"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Evidence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Paper and subjective assessment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GNSS metadata plus deterministic hash</a:t>
                      </a:r>
                    </a:p>
                  </a:txBody>
                  <a:tcPr marL="91440" marR="91440" marT="45720" marB="45720"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Farmer access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Large commercial farms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SMS-first, with USSD on the roadmap</a:t>
                      </a:r>
                    </a:p>
                  </a:txBody>
                  <a:tcPr marL="91440" marR="91440" marT="45720" marB="45720"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Sustainability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Manual and cost-heavy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2251F"/>
                          </a:solidFill>
                          <a:latin typeface="Arial"/>
                          <a:ea typeface="Arial"/>
                          <a:cs typeface="Arial"/>
                        </a:rPr>
                        <a:t>Recurring B2B2C platform model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18AA87-0766-4D7C-AD80-3EC3AAC4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866900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TAM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633627-2BF5-4B34-9303-7F9932605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71700"/>
            <a:ext cx="342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485M African livelihoods exposed to climate risk. $9.3B annual loss context.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9F6467-76DF-4C75-8725-A01C7D87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914650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D9A44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A441"/>
                </a:solidFill>
                <a:latin typeface="Arial"/>
                <a:ea typeface="Arial"/>
                <a:cs typeface="Arial"/>
              </a:rPr>
              <a:t>SAM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A71C67-26AA-43DD-BD4A-2715EDA8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219450"/>
            <a:ext cx="342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120M farms across Sub-Saharan Africa and Southeast Asia.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BDC630-B7AF-4E58-BC6B-5825F0E3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84810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96B3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C96B3B"/>
                </a:solidFill>
                <a:latin typeface="Arial"/>
                <a:ea typeface="Arial"/>
                <a:cs typeface="Arial"/>
              </a:rPr>
              <a:t>SOM target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3E936E-D175-48CD-9E40-354D542FD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152900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120,000 insured farmers by Year 3 and about $3M ARR target.</a:t>
            </a:r>
          </a:p>
        </p:txBody>
      </p:sp>
    </p:spTree>
    <p:extLst>
      <p:ext uri="{BB962C8B-B14F-4D97-AF65-F5344CB8AC3E}">
        <p14:creationId xmlns:p14="http://schemas.microsoft.com/office/powerpoint/2010/main" val="142939029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B6160B-8F62-4B7A-871C-6C5C85A8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2251F"/>
                </a:solidFill>
                <a:latin typeface="Arial"/>
                <a:ea typeface="Arial"/>
                <a:cs typeface="Arial"/>
              </a:rPr>
              <a:t>Transferability and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721647-620C-436A-88FF-ABF74E893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The architecture separates data, rules, records, and settlement so partners can replace one layer at a time.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51342F-1CB7-4657-B0B9-9AB48A180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04925"/>
            <a:ext cx="1066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4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DD3BD3-0C92-47E9-9143-0A70099D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C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32A8C6-8B6B-4D56-99C3-6B2FA66B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AgriGuard  |  G4-SAA Challenge II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4251F2-99FA-4C53-8101-103EE3E2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5627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7BD404-8CFF-44A8-9F73-F612DAC81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32575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8D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5E1A6C-7070-4565-8EB1-2FBBE21BB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2800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Q4 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AD3286-C874-4BA3-8A19-96F14C8B7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2800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2251F"/>
                </a:solidFill>
                <a:latin typeface="Arial"/>
                <a:ea typeface="Arial"/>
                <a:cs typeface="Arial"/>
              </a:rPr>
              <a:t>Regional insurer pilot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A10E30-0835-4D4A-BE08-D1BE4229B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28003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Validate thresholds, settlement operations, and farmer consent with an insurer partner.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8064FC-22A0-476F-8B2F-A72AABBDF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790700"/>
            <a:ext cx="32575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EE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8F954C-23DF-4C86-9F07-F3B61041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57400"/>
            <a:ext cx="2800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Q1-Q2 2027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266B7D-99DA-4772-80E4-C457BC0C1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57450"/>
            <a:ext cx="2800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2251F"/>
                </a:solidFill>
                <a:latin typeface="Arial"/>
                <a:ea typeface="Arial"/>
                <a:cs typeface="Arial"/>
              </a:rPr>
              <a:t>Channel expansion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D9651F-96B8-4AFB-A0F2-319F563F6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81350"/>
            <a:ext cx="28003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Add USSD and deeper offline synchronization for feature phones and low-bandwidth areas.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E9A4C3-3870-475C-B86B-8D13696C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790700"/>
            <a:ext cx="32575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8DD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D7DEEC-23BA-4387-BF98-26326A7E8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57400"/>
            <a:ext cx="2800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E7D4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E7D4F"/>
                </a:solidFill>
                <a:latin typeface="Arial"/>
                <a:ea typeface="Arial"/>
                <a:cs typeface="Arial"/>
              </a:rPr>
              <a:t>Q3-Q4 2027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957D34-97E5-4E32-BA78-62B798758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457450"/>
            <a:ext cx="2800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2251F"/>
                </a:solidFill>
                <a:latin typeface="Arial"/>
                <a:ea typeface="Arial"/>
                <a:cs typeface="Arial"/>
              </a:rPr>
              <a:t>Partner platform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D0D75F-DD12-47F0-B492-C4FC5EF8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81350"/>
            <a:ext cx="28003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Expose APIs for NGOs and governments and add new peril and asset templates.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E9004F-88FF-4C44-9057-E44253993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2251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2251F"/>
                </a:solidFill>
                <a:latin typeface="Arial"/>
                <a:ea typeface="Arial"/>
                <a:cs typeface="Arial"/>
              </a:rPr>
              <a:t>Transferable design choices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C67767-1544-4033-B816-6C0C7E058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48300"/>
            <a:ext cx="8248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F706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7068"/>
                </a:solidFill>
                <a:latin typeface="Arial"/>
                <a:ea typeface="Arial"/>
                <a:cs typeface="Arial"/>
              </a:rPr>
              <a:t>New hazard polygons, new crop rules, new settlement rails, and new countries reuse the same spatial and evidence model.</a:t>
            </a:r>
          </a:p>
        </p:txBody>
      </p:sp>
    </p:spTree>
    <p:extLst>
      <p:ext uri="{BB962C8B-B14F-4D97-AF65-F5344CB8AC3E}">
        <p14:creationId xmlns:p14="http://schemas.microsoft.com/office/powerpoint/2010/main" val="197126734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3D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C64EEF-2A39-4D21-AE11-E9B2E84C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B06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DCBD38-5D5C-45B3-9260-BAFD3EA5B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95350"/>
            <a:ext cx="590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AGRIGUARD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7A496-E771-4112-8116-F8F959EF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66900"/>
            <a:ext cx="723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DDE9E2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DDE9E2"/>
                </a:solidFill>
                <a:latin typeface="Arial"/>
                <a:ea typeface="Arial"/>
                <a:cs typeface="Arial"/>
              </a:rPr>
              <a:t>From hazard signal to auditable claim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FBDCCB-3733-41F7-9185-175EC50D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4767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C7DBD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C7DBD0"/>
                </a:solidFill>
                <a:latin typeface="Arial"/>
                <a:ea typeface="Arial"/>
                <a:cs typeface="Arial"/>
              </a:rPr>
              <a:t>GNSS boundaries</a:t>
            </a:r>
          </a:p>
          <a:p xmlns:a="http://schemas.openxmlformats.org/drawingml/2006/main">
            <a:pPr>
              <a:defRPr sz="1500" b="0">
                <a:solidFill>
                  <a:srgbClr val="C7DBD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C7DBD0"/>
                </a:solidFill>
                <a:latin typeface="Arial"/>
                <a:ea typeface="Arial"/>
                <a:cs typeface="Arial"/>
              </a:rPr>
              <a:t>PostGIS spatial matching</a:t>
            </a:r>
          </a:p>
          <a:p xmlns:a="http://schemas.openxmlformats.org/drawingml/2006/main">
            <a:pPr>
              <a:defRPr sz="1500" b="0">
                <a:solidFill>
                  <a:srgbClr val="C7DBD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C7DBD0"/>
                </a:solidFill>
                <a:latin typeface="Arial"/>
                <a:ea typeface="Arial"/>
                <a:cs typeface="Arial"/>
              </a:rPr>
              <a:t>Crop-specific parametric rules</a:t>
            </a:r>
          </a:p>
          <a:p xmlns:a="http://schemas.openxmlformats.org/drawingml/2006/main">
            <a:pPr>
              <a:defRPr sz="1500" b="0">
                <a:solidFill>
                  <a:srgbClr val="C7DBD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C7DBD0"/>
                </a:solidFill>
                <a:latin typeface="Arial"/>
                <a:ea typeface="Arial"/>
                <a:cs typeface="Arial"/>
              </a:rPr>
              <a:t>Explicit settlement status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8A5D33-85C6-4499-93CB-C43D8E832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971550"/>
            <a:ext cx="47625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F31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6A5C4E-03C4-48B5-87A8-2E67BA27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35255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FB06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B069"/>
                </a:solidFill>
                <a:latin typeface="Arial"/>
                <a:ea typeface="Arial"/>
                <a:cs typeface="Arial"/>
              </a:rPr>
              <a:t>Live judge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709B34-B108-40A2-9310-986D0A86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8478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agri-guard-api-live.vercel.app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DB45C5-582C-4F22-A4DE-2A2799336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09850"/>
            <a:ext cx="4095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DE9E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DE9E2"/>
                </a:solidFill>
                <a:latin typeface="Arial"/>
                <a:ea typeface="Arial"/>
                <a:cs typeface="Arial"/>
              </a:rPr>
              <a:t>Repository</a:t>
            </a:r>
          </a:p>
          <a:p xmlns:a="http://schemas.openxmlformats.org/drawingml/2006/main">
            <a:pPr>
              <a:defRPr sz="1350" b="0">
                <a:solidFill>
                  <a:srgbClr val="DDE9E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DE9E2"/>
                </a:solidFill>
                <a:latin typeface="Arial"/>
                <a:ea typeface="Arial"/>
                <a:cs typeface="Arial"/>
              </a:rPr>
              <a:t>github.com/juangh123/agri_guard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D9EBB6-55C3-42F6-9802-47F9D5098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33800"/>
            <a:ext cx="4095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Public demo settlement: PENDING</a:t>
            </a:r>
          </a:p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 fabricated transaction hash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671BAB-FE9D-4C0D-975F-08EB2E8B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9C5B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9C5B5"/>
                </a:solidFill>
                <a:latin typeface="Arial"/>
                <a:ea typeface="Arial"/>
                <a:cs typeface="Arial"/>
              </a:rPr>
              <a:t>AgriGuard  |  G4-SAA  |  Challenge II</a:t>
            </a:r>
          </a:p>
        </p:txBody>
      </p:sp>
    </p:spTree>
    <p:extLst>
      <p:ext uri="{BB962C8B-B14F-4D97-AF65-F5344CB8AC3E}">
        <p14:creationId xmlns:p14="http://schemas.microsoft.com/office/powerpoint/2010/main" val="8020669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2026-09-15T06:31:01.2780000Z</dcterms:created>
  <dcterms:modified xsi:type="dcterms:W3CDTF">2026-09-15T06:31:01.2780000Z</dcterms:modified>
</coreProperties>
</file>