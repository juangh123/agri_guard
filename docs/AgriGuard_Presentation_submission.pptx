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4d935d829484ca3" Type="http://schemas.openxmlformats.org/package/2006/relationships/metadata/core-properties" Target="docProps/core.xml"/><Relationship Id="Re7da45615f53479b" Type="http://schemas.openxmlformats.org/officeDocument/2006/relationships/extended-properties" Target="docProps/app.xml"/><Relationship Id="Reb99efa07dfe421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cc949e092448e"/>
  </p:sldMasterIdLst>
  <p:notesMasterIdLst>
    <p:notesMasterId xmlns:r="http://schemas.openxmlformats.org/officeDocument/2006/relationships" r:id="Rd834edb8631c447a"/>
  </p:notesMasterIdLst>
  <p:sldIdLst>
    <p:sldId xmlns:r="http://schemas.openxmlformats.org/officeDocument/2006/relationships" id="256" r:id="R51bc472c6b3548b1"/>
    <p:sldId xmlns:r="http://schemas.openxmlformats.org/officeDocument/2006/relationships" id="257" r:id="R715de1f38ab14c91"/>
    <p:sldId xmlns:r="http://schemas.openxmlformats.org/officeDocument/2006/relationships" id="258" r:id="R9927ebc9754d47b2"/>
    <p:sldId xmlns:r="http://schemas.openxmlformats.org/officeDocument/2006/relationships" id="259" r:id="R7b4af27765ee41eb"/>
    <p:sldId xmlns:r="http://schemas.openxmlformats.org/officeDocument/2006/relationships" id="260" r:id="Re6988e6e061a4699"/>
    <p:sldId xmlns:r="http://schemas.openxmlformats.org/officeDocument/2006/relationships" id="261" r:id="R9028909f445445c7"/>
    <p:sldId xmlns:r="http://schemas.openxmlformats.org/officeDocument/2006/relationships" id="262" r:id="Rcbafc02e4ce44f19"/>
    <p:sldId xmlns:r="http://schemas.openxmlformats.org/officeDocument/2006/relationships" id="263" r:id="R76d452a469fc4234"/>
    <p:sldId xmlns:r="http://schemas.openxmlformats.org/officeDocument/2006/relationships" id="264" r:id="Rd1fdc9226c054c0e"/>
    <p:sldId xmlns:r="http://schemas.openxmlformats.org/officeDocument/2006/relationships" id="265" r:id="R57f5578549dc4979"/>
    <p:sldId xmlns:r="http://schemas.openxmlformats.org/officeDocument/2006/relationships" id="266" r:id="R17ddf549fdf0427f"/>
    <p:sldId xmlns:r="http://schemas.openxmlformats.org/officeDocument/2006/relationships" id="267" r:id="R88f425eb8fc44e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a04625d706487c" Type="http://schemas.openxmlformats.org/officeDocument/2006/relationships/tableStyles" Target="tableStyles.xml"/><Relationship Id="R17ddf549fdf0427f" Type="http://schemas.openxmlformats.org/officeDocument/2006/relationships/slide" Target="slides/slide11.xml"/><Relationship Id="R20e0115dd3b04ac1" Type="http://schemas.openxmlformats.org/officeDocument/2006/relationships/theme" Target="theme/theme1.xml"/><Relationship Id="R48ccc949e092448e" Type="http://schemas.openxmlformats.org/officeDocument/2006/relationships/slideMaster" Target="slideMasters/slideMaster1.xml"/><Relationship Id="R51bc472c6b3548b1" Type="http://schemas.openxmlformats.org/officeDocument/2006/relationships/slide" Target="slides/slide1.xml"/><Relationship Id="R57f5578549dc4979" Type="http://schemas.openxmlformats.org/officeDocument/2006/relationships/slide" Target="slides/slide10.xml"/><Relationship Id="R715de1f38ab14c91" Type="http://schemas.openxmlformats.org/officeDocument/2006/relationships/slide" Target="slides/slide2.xml"/><Relationship Id="R76d452a469fc4234" Type="http://schemas.openxmlformats.org/officeDocument/2006/relationships/slide" Target="slides/slide8.xml"/><Relationship Id="R7b4af27765ee41eb" Type="http://schemas.openxmlformats.org/officeDocument/2006/relationships/slide" Target="slides/slide4.xml"/><Relationship Id="R88f425eb8fc44edb" Type="http://schemas.openxmlformats.org/officeDocument/2006/relationships/slide" Target="slides/slide12.xml"/><Relationship Id="R9028909f445445c7" Type="http://schemas.openxmlformats.org/officeDocument/2006/relationships/slide" Target="slides/slide6.xml"/><Relationship Id="R9927ebc9754d47b2" Type="http://schemas.openxmlformats.org/officeDocument/2006/relationships/slide" Target="slides/slide3.xml"/><Relationship Id="Rcbafc02e4ce44f19" Type="http://schemas.openxmlformats.org/officeDocument/2006/relationships/slide" Target="slides/slide7.xml"/><Relationship Id="Rd1fdc9226c054c0e" Type="http://schemas.openxmlformats.org/officeDocument/2006/relationships/slide" Target="slides/slide9.xml"/><Relationship Id="Rd834edb8631c447a" Type="http://schemas.openxmlformats.org/officeDocument/2006/relationships/notesMaster" Target="notesMasters/notesMaster1.xml"/><Relationship Id="Re2997597e44f4822" Type="http://schemas.openxmlformats.org/officeDocument/2006/relationships/presProps" Target="presProps.xml"/><Relationship Id="Re6988e6e061a469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d75f256c26b04f8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6d0b5bbed864dba" Type="http://schemas.openxmlformats.org/officeDocument/2006/relationships/notesMaster" Target="../notesMasters/notesMaster1.xml"/><Relationship Id="R52844f9e3d3a4b7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46876097ec747c0" Type="http://schemas.openxmlformats.org/officeDocument/2006/relationships/slide" Target="../slides/slide2.xml"/><Relationship Id="R3ca10ec118dd4e6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6493f061e9eb49ca" Type="http://schemas.openxmlformats.org/officeDocument/2006/relationships/slide" Target="../slides/slide3.xml"/><Relationship Id="R783a0fd2a4c94cc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aeccaf68651458f" Type="http://schemas.openxmlformats.org/officeDocument/2006/relationships/slide" Target="../slides/slide4.xml"/><Relationship Id="R6d670c8342784e9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a7f76b3815a7445b" Type="http://schemas.openxmlformats.org/officeDocument/2006/relationships/notesMaster" Target="../notesMasters/notesMaster1.xml"/><Relationship Id="Rc69f85f8db5f46a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bd3bb8886a144694" Type="http://schemas.openxmlformats.org/officeDocument/2006/relationships/notesMaster" Target="../notesMasters/notesMaster1.xml"/><Relationship Id="Re4a7a9af75ba4975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be58c525f36495b" Type="http://schemas.openxmlformats.org/officeDocument/2006/relationships/notesMaster" Target="../notesMasters/notesMaster1.xml"/><Relationship Id="Re79fda0faabe4d9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8f41030e12364ee6" Type="http://schemas.openxmlformats.org/officeDocument/2006/relationships/slide" Target="../slides/slide8.xml"/><Relationship Id="R94429dc2ab91475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c2352de3522b47fa" Type="http://schemas.openxmlformats.org/officeDocument/2006/relationships/slide" Target="../slides/slide9.xml"/><Relationship Id="Rf709fd51523f4b8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01b841b7f8b47ba" Type="http://schemas.openxmlformats.org/officeDocument/2006/relationships/notesMaster" Target="../notesMasters/notesMaster1.xml"/><Relationship Id="R33879e68568c4b6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989f292bb0a477f" Type="http://schemas.openxmlformats.org/officeDocument/2006/relationships/notesMaster" Target="../notesMasters/notesMaster1.xml"/><Relationship Id="R6c1bbb81ed2a40c5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974c62045890452a" Type="http://schemas.openxmlformats.org/officeDocument/2006/relationships/notesMaster" Target="../notesMasters/notesMaster1.xml"/><Relationship Id="Rc93528df77f54b3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README and verified live deployment at https://agri-guard-api-live.vercel.app. Public demo inspection on 15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submission materials and cited climate insurance benchmarks. Market and impact figures are targets or external benchmarks, not measured AgriGuard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docs/TRIGGER_LOGIC_AND_CODE.md, and the public demo. The implemented workflow and roadmap are separated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core/models.py, core/engine.py, core/tasks.py, and frontend component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 demo inspection on 15 September 2026. The map includes live ArcGIS layers while the demo threshold metrics are labeled as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core/engine.py and core/tests.py. The table is a crop-specific example and does not imply that every hazard source is production-grade.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core/tasks.py and live claim records inspected on 15 September 2026. The screenshot shows PENDING because the public demo has no Web3 credentials.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core/services/blockchain_service.py, core/tasks.py, and docs/SUBMISSION_FULL.md. The reference Solidity contract is not called by the current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frontend/src/components/ReportQueryPanel.jsx, frontend/src/components/SmsMockup.jsx, core/tasks.py, and core/services/llm_service.py.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docs/IMPACT_AND_MARKET.md and README.md. Targets and external benchmarks are shown as such.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 roadmap and docs/IMPACT_AND_MARKET.md. Dates are planning targets and require partner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live deployment and repository README. The public demo remains in a truthful PENDING state without Web3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f45902b755943a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23987ead77b4ead" Type="http://schemas.openxmlformats.org/officeDocument/2006/relationships/theme" Target="theme/theme2.xml"/><Relationship Id="Rb8b9a25fdf3a42a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9a25fdf3a42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2029b32c1ce4660" Type="http://schemas.openxmlformats.org/officeDocument/2006/relationships/slideLayout" Target="../slideLayouts/slideLayout1.xml"/><Relationship Id="R964570f4f9a14546" Type="http://schemas.openxmlformats.org/officeDocument/2006/relationships/notesSlide" Target="../notesSlides/notesSlide1.xml"/><Relationship Id="Re4ece1eec6254d10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fb0a5278b164956" Type="http://schemas.openxmlformats.org/officeDocument/2006/relationships/slideLayout" Target="../slideLayouts/slideLayout1.xml"/><Relationship Id="R76f941120c2d421a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9c77ffc9e5864956" Type="http://schemas.openxmlformats.org/officeDocument/2006/relationships/notesSlide" Target="../notesSlides/notesSlide3.xml"/><Relationship Id="Red951cf62f3e4147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a27183ce077405a" Type="http://schemas.openxmlformats.org/officeDocument/2006/relationships/notesSlide" Target="../notesSlides/notesSlide4.xml"/><Relationship Id="R4fd95908b6dc49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29dbcdbdcdc4aaf" Type="http://schemas.openxmlformats.org/officeDocument/2006/relationships/slideLayout" Target="../slideLayouts/slideLayout1.xml"/><Relationship Id="Rb68f377220a74ed9" Type="http://schemas.openxmlformats.org/officeDocument/2006/relationships/notesSlide" Target="../notesSlides/notesSlide5.xml"/><Relationship Id="Rca73b79ccfac4e2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1cf8f876ccd04fc5" Type="http://schemas.openxmlformats.org/officeDocument/2006/relationships/slideLayout" Target="../slideLayouts/slideLayout1.xml"/><Relationship Id="Rb81e30f1b80d4ee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77037150ad7949f5" Type="http://schemas.openxmlformats.org/officeDocument/2006/relationships/image" Target="../media/image3.png"/><Relationship Id="Rdec89d1a304b4bfa" Type="http://schemas.openxmlformats.org/officeDocument/2006/relationships/notesSlide" Target="../notesSlides/notesSlide7.xml"/><Relationship Id="Reca69ecbe11c4ab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c1994c5f9bf4e7d" Type="http://schemas.openxmlformats.org/officeDocument/2006/relationships/notesSlide" Target="../notesSlides/notesSlide8.xml"/><Relationship Id="Rbfd5de2378b54f3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c9286ec635b4310" Type="http://schemas.openxmlformats.org/officeDocument/2006/relationships/image" Target="../media/image4.png"/><Relationship Id="R6f7e21e7289948b3" Type="http://schemas.openxmlformats.org/officeDocument/2006/relationships/slideLayout" Target="../slideLayouts/slideLayout1.xml"/><Relationship Id="R9f9450e230e346e9" Type="http://schemas.openxmlformats.org/officeDocument/2006/relationships/notesSlide" Target="../notesSlides/notesSlide9.xml"/><Relationship Id="Re1a51a6fa5b6429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85665133d4454681" Type="http://schemas.openxmlformats.org/officeDocument/2006/relationships/slideLayout" Target="../slideLayouts/slideLayout1.xml"/><Relationship Id="R9beb597f8f36402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7addbb776ba48f8" Type="http://schemas.openxmlformats.org/officeDocument/2006/relationships/slideLayout" Target="../slideLayouts/slideLayout1.xml"/><Relationship Id="Rdda8e8eba8a94fe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99689d500a0d41b8" Type="http://schemas.openxmlformats.org/officeDocument/2006/relationships/notesSlide" Target="../notesSlides/notesSlide12.xml"/><Relationship Id="Raed2b795720a467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E5C27-29F6-4ADD-A99E-7556263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0D4F3-14F7-410E-89C2-9737509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AGRIGUARD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44E5B-4FB1-443F-9DD1-312202F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GNSS-anchored parametric insurance and early warning for African smallholder farmers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8FAC0-72DD-44A5-B598-6D16F3BC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0EF66-E393-4BE2-B159-BAAA569B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GNSS boundaries</a:t>
            </a:r>
          </a:p>
          <a:p xmlns:a="http://schemas.openxmlformats.org/drawingml/2006/main">
            <a:pPr>
              <a:defRPr sz="1350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Earth observation</a:t>
            </a:r>
          </a:p>
          <a:p xmlns:a="http://schemas.openxmlformats.org/drawingml/2006/main">
            <a:pPr>
              <a:defRPr sz="1350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Crop-specific rules</a:t>
            </a:r>
          </a:p>
          <a:p xmlns:a="http://schemas.openxmlformats.org/drawingml/2006/main">
            <a:pPr>
              <a:defRPr sz="1350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Auditable settlement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BEDBB-790E-40CD-B593-02BA2686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C5B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C5B5"/>
                </a:solidFill>
                <a:latin typeface="Arial"/>
                <a:ea typeface="Arial"/>
                <a:cs typeface="Arial"/>
              </a:rPr>
              <a:t>Public demo  |  November 2026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ce1eec6254d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81050"/>
            <a:ext cx="5334000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67750-D0C4-4B6E-92E7-AA95B4E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3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DFA70-72CB-4920-9EDC-0DF3F0B1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hazard signal to auditable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D568E-8E38-4710-8613-95A7273B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1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7DB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7DBD0"/>
                </a:solidFill>
                <a:latin typeface="Arial"/>
                <a:ea typeface="Arial"/>
                <a:cs typeface="Arial"/>
              </a:rPr>
              <a:t>The public demo keeps settlement in PENDING mode when Web3 credentials are not configured.</a:t>
            </a:r>
          </a:p>
        </p:txBody>
      </p:sp>
    </p:spTree>
    <p:extLst>
      <p:ext uri="{BB962C8B-B14F-4D97-AF65-F5344CB8AC3E}">
        <p14:creationId xmlns:p14="http://schemas.microsoft.com/office/powerpoint/2010/main" val="1992908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484056-5015-40A9-B6C1-690A3A9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The insurance gap for smallholder farms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9FCBF-90C9-4C65-A599-87803C2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Traditional field verification does not scale to small, dispersed plots.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1C3D6-E7D9-4CC8-8757-773856B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91DEE-031C-4492-8EE9-7205940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23485-7F02-4AD5-B218-F7BAE53B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27ECB-7D71-45C8-8C37-0080EAAF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D302E-B6F0-4EA1-94FE-066AF16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19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C7C26-B105-421A-B6EC-9E08E43A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6B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6B3B"/>
                </a:solidFill>
                <a:latin typeface="Arial"/>
                <a:ea typeface="Arial"/>
                <a:cs typeface="Arial"/>
              </a:rPr>
              <a:t>$9.3B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5777A-119B-455A-8D5F-44DA132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Annual climate-related crop losses in Africa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C2A93-D0C2-4E9D-BEB1-1E749A9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419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22163-CB5C-4A04-B116-6751669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&lt;3%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46A4E-2B28-4728-BD18-87F37B4A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Agricultural insurance penetration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F6AB4-5732-4688-899B-66B96811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2419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8E96E-FBBE-4C32-86F6-91F4751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4-12 weeks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722BE-60DB-405A-97FD-89B9C37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Common manual claim 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B57FB-E9FD-412F-94D4-3143BD5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4193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5D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5F8AE-6B17-4BD4-8223-96F8AF0C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96B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96B3B"/>
                </a:solidFill>
                <a:latin typeface="Arial"/>
                <a:ea typeface="Arial"/>
                <a:cs typeface="Arial"/>
              </a:rPr>
              <a:t>10-15%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AD7D0-6A97-4CAB-9C6B-CFA1C3B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Fraud risk cited for subjective claims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0C798-F43D-453D-A21D-2983FC68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The operational 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12817-EF90-45BB-B1DC-4F195FA1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Manual loss adjustment requires field visits, paperwork, and subjective assessment. Those costs are difficult to recover on small policies, so many farms remain excluded.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3EDFE-D4CE-4659-89ED-60C61D51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evaluates a measurable hazard footprint against a GNSS-defined farm boundary. The goal is faster evidence collection and a transparent claim status, not automated blame or payout without controls.</a:t>
            </a:r>
          </a:p>
        </p:txBody>
      </p:sp>
    </p:spTree>
    <p:extLst>
      <p:ext uri="{BB962C8B-B14F-4D97-AF65-F5344CB8AC3E}">
        <p14:creationId xmlns:p14="http://schemas.microsoft.com/office/powerpoint/2010/main" val="1568780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C278EE-3CB5-4D02-BF3B-47E7D156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AgriGuard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7A1F6-2D61-4DFD-82A5-FEFF6991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Each step produces an inspectable record that can be audited.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B608E-8E3B-4638-AC3B-7C6E72A2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E883B-E515-48BB-8716-BD7A20B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9FA90-B596-4343-A938-BCD7A4E3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29A3B-282E-4A68-A908-89CCA55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2C243-63A8-4B59-AACB-0E99865B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37F97-D214-47B6-936A-95AB7133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3D5A5-EE6C-49D9-ADAB-9C703846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885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GNSS/WGS84 farm polygon with optional receiver, accuracy, and capture-time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2DB7C-71FA-4ADD-836B-14E4DED6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0288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B286-E95C-40BF-A64E-D0CF7B6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09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8FB23-0900-4E46-BF31-64791BF3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47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58A4B-3E31-4842-8287-2ABE7BBE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05100"/>
            <a:ext cx="1885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PostGIS intersects the farm boundary with an event footprint or labeled demo 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E8B28-DA50-41DD-A3B5-B79F6FA2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288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011A9-A5CA-4679-A3D7-39E6349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D11F4-BEE7-46FA-86DD-79DE7E9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9CD0-30DC-4C6D-B8A2-A5019350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05100"/>
            <a:ext cx="1885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Crop-specific flood, wildfire, drought, and heatwave rules calculate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17CD0-5B19-4601-A378-AFB0049E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0288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2392D-7B7C-491F-93BF-EB4DD979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DCB43A-824D-4CEF-A03A-CEC93A7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8BFBB-994D-40A5-BE8C-68AA27F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1885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 claim, SHA-256 evidence hash, alert, and timeline are created.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E4ED0-2995-4349-886C-01AFC34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2882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7B588-90CE-4BBD-ACDD-D991DD82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2FBA6-539D-480C-8508-7348DFD4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47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Settle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25E5F-A94B-447E-AA9F-5F552FD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1885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 configured ERC-20 transfer is attempted. Otherwise the claim remains PENDING.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2066E0-7FEC-4CE6-ACF0-FC022A25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1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57061-AABF-46E7-97AD-0781223E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FB0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B069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DFB89-086E-4F07-B6CD-56C25DB5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339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map layers are integrated. Threshold ingestion from GEOGLOWS and VIIRS remains roadmap work. Public demos label simulated metrics and never fabricate a transaction hash.</a:t>
            </a:r>
          </a:p>
        </p:txBody>
      </p:sp>
    </p:spTree>
    <p:extLst>
      <p:ext uri="{BB962C8B-B14F-4D97-AF65-F5344CB8AC3E}">
        <p14:creationId xmlns:p14="http://schemas.microsoft.com/office/powerpoint/2010/main" val="1947135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5F4CDE-C9A5-4D50-BB37-A877FC87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8A9BC-3A6E-4C01-8CB9-FFD9B0E4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 Django and PostGIS workflow with a replaceable data and settlement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04B0-C485-444C-9AD6-3FE9C70A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F558E-567E-42C2-875B-8689D42E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9C321-7EC4-446A-B2DD-E3E3FAAC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5DFED-392E-469C-B6B8-38476882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40B12-20BD-4008-A8AE-4C75CC76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BFEDE-5AEC-47A4-A5BD-4F00B008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7E60A-E0CC-4386-BE9E-1E2A5F1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88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GNSS/WGS84 boundaries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NASA EONET event footprints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Esri Living Atlas map layers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Labeled demo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C2118-4B49-4E65-B7F6-5A4F3D7D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7FEF3-5BCC-4AE0-8D13-2868174A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297A1-EB6C-42BD-ADC6-E16729AE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003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Django REST API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PostGIS ST_Intersects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Crop-specific rule engine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Celery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0335A-A387-4D24-A88E-8FCAD6F0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B3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98293-5C3B-4EBE-AC84-FB5B112C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66B10-598A-41BE-8A90-3E115460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Risk alert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Claim and timeline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SHA-256 evidence hash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WebSocket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C6E66-BDB1-4350-B5A7-2F35FE8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FA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B830E-D016-4135-8AB2-C02B4ED9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32156-9A99-4DFE-8101-08F8683F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React dashboard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MapLibre and ArcGIS views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SMS fallback path</a:t>
            </a:r>
          </a:p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Seven-language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18414-7B33-4DB9-B33E-A0931EC0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Authoritative source files: core/models.py, core/engine.py, core/tasks.py, core/services/blockchain_service.py, frontend/src/components/MapView.jsx</a:t>
            </a:r>
          </a:p>
        </p:txBody>
      </p:sp>
    </p:spTree>
    <p:extLst>
      <p:ext uri="{BB962C8B-B14F-4D97-AF65-F5344CB8AC3E}">
        <p14:creationId xmlns:p14="http://schemas.microsoft.com/office/powerpoint/2010/main" val="9100129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EC5D5-661F-453B-BC15-5F7AF6A0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Farm boundaries and live Earth observation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AFCAA-9D6C-4CE4-9E68-8352A14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The map combines operational context with a clearly labeled scenario runner.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19652-CC20-4D3C-B1D3-BDCD4D1D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E4A65-8100-4EAA-92BB-E2473667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5019A-A910-4961-B87D-3BF7A406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43A6E-E4B5-4BEB-9D6E-895F169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3b79ccfac4e27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68580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022DA-2840-4253-9CAF-A5F793A1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What judges can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1E386-8829-4BAA-831B-531963CE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Farm polygons are visible as GNSS/WGS84 geofences.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54EBD-5039-428B-8669-2627109B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ArcGIS Living Atlas layers provide VIIRS fire activity, GEOGLOWS streamflow, and stream gauges.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7F89A-AC33-436B-93D8-C1EFE28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The scenario button posts to the real API and creates a new claim workflow. No fake payout or hash is produced.</a:t>
            </a:r>
          </a:p>
        </p:txBody>
      </p:sp>
    </p:spTree>
    <p:extLst>
      <p:ext uri="{BB962C8B-B14F-4D97-AF65-F5344CB8AC3E}">
        <p14:creationId xmlns:p14="http://schemas.microsoft.com/office/powerpoint/2010/main" val="1846255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7AFE9-D2B2-4C72-81C8-39499D7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Parametric decision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41C2A-8FE1-4E84-A939-AB787804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Thresholds vary by crop and peril. The table shows maize examples from the current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0A42E-8A9A-4859-8158-AF0A77B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674B-7D47-41DC-A831-6969A8CD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3CCC-1082-4EF6-9A00-5A9D199E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85639-CC93-4488-87F8-631138ED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9908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94065"/>
                <a:gridCol w="4189615"/>
                <a:gridCol w="2593571"/>
                <a:gridCol w="1795549"/>
              </a:tblGrid>
              <a:tr h="5981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Peril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Trigger tested by the engine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threshold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Flood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Water depth and duration, optional rainfall anomaly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2.5 m for 3 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0.85 to 0.95</a:t>
                      </a:r>
                    </a:p>
                  </a:txBody>
                  <a:tcPr marL="91440" marR="91440" marT="45720" marB="45720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Wildfire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Fire area intersecting the farm footprint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5 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0.99</a:t>
                      </a:r>
                    </a:p>
                  </a:txBody>
                  <a:tcPr marL="91440" marR="91440" marT="45720" marB="45720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Drought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Normalized Difference Water Index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NDWI below -0.2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0.90</a:t>
                      </a:r>
                    </a:p>
                  </a:txBody>
                  <a:tcPr marL="91440" marR="91440" marT="45720" marB="45720"/>
                </a:tc>
              </a:tr>
              <a:tr h="59817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Heatwave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Temperature anomaly and persistence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+2.0 C for 3 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0.92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9B4BF-6586-446C-970C-AD2A5A67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Area guardrail: 0.5 ha minimum, 5 ha maximum insured area for payout arithmetic.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40FBB-3299-4CAF-98F4-E3873C80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Claim value = $25 per hectare x capped insured area x severity x confidence. Severity levels below 3 apply a 50% partial-claim multiplier.</a:t>
            </a:r>
          </a:p>
        </p:txBody>
      </p:sp>
    </p:spTree>
    <p:extLst>
      <p:ext uri="{BB962C8B-B14F-4D97-AF65-F5344CB8AC3E}">
        <p14:creationId xmlns:p14="http://schemas.microsoft.com/office/powerpoint/2010/main" val="1143459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12C01-8745-40D0-B086-D0A03903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Claim lifecycle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CE155-9D37-49AD-AFA9-A85FA00A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 claim moves through a fixed status history with no fabricated payment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0BD05-5365-4AD9-9405-88C1E4A9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8217F-BA8F-4677-8302-41C4D856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DA688-88E8-4C24-8781-40647CC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9DFD7-CBD1-4152-A912-993A5F5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37150ad7949f5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6286500" cy="3924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425E7-7FD2-426F-A182-E09F1208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DETECTED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E7735-9BC7-49A3-9C99-FF9E5609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383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Hazard detected inside the geofence.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7CBD4-D41B-49CB-843D-79C93966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95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B9117-188F-487C-85C8-C368E59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860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Confidence and GNSS metadata evaluated.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4B4FF-ADE8-4426-A1EC-6FE427A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TRIGGERED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67CE1-3073-4497-8528-F436906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337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Settlement processing starts.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058D8-E3AC-454A-9526-B0C860E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90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NOTIFIED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1E647-FAD7-495A-9433-82168D51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814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Farmer notification is dispatched or queued.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9BADD-B2D9-4B0D-B8BE-D5295B24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96B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96B3B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DAB0C-90BA-469A-B6C2-B7015826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291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No configured ERC-20 transfer, so no hash is stored.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744A5-21EF-49FB-B781-7D8AE500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911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The evidence hash binds farm ID, event ID, event time, confidence, and GNSS metadata.</a:t>
            </a:r>
          </a:p>
        </p:txBody>
      </p:sp>
    </p:spTree>
    <p:extLst>
      <p:ext uri="{BB962C8B-B14F-4D97-AF65-F5344CB8AC3E}">
        <p14:creationId xmlns:p14="http://schemas.microsoft.com/office/powerpoint/2010/main" val="1038034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AEADB-493A-411C-85A5-DDEB771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Settlement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9EF71-E16D-422A-ADFB-9D32CB05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The same claim record supports a configured transfer or an explicit pending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57648-1C39-4D4B-82AE-6252D88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F2A88-75F4-4EC8-B138-CE2B82A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4865D-765E-463E-9FF3-A184289B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4C978-B828-40F5-A51F-3510A05B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8FA27-562B-4927-9AA2-303D780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973D1-F10B-4BBE-9941-D5370DFD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6B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96B3B"/>
                </a:solidFill>
                <a:latin typeface="Arial"/>
                <a:ea typeface="Arial"/>
                <a:cs typeface="Arial"/>
              </a:rPr>
              <a:t>Web3 not configured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1972-E4A3-495D-8BA8-FA7519F9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Claim status</a:t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PENDING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Transaction hash</a:t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Not recorded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Funds moved</a:t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None in the public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15EFD-6C7C-4E90-B6BA-BF2571F5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2197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CF2BD-6707-4E7C-8C6B-0C91DE9A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Configured transfer succeeds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DBF44-CBEA-42EE-81A3-69BC7C2C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Claim status</a:t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PAID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Transaction hash</a:t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Node-accepted hash stored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Funds moved</a:t>
            </a:r>
          </a:p>
          <a:p xmlns:a="http://schemas.openxmlformats.org/drawingml/2006/main">
            <a:pPr>
              <a:defRPr sz="15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ERC-20 transfer submitted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1DF46-1846-497D-9204-B5463576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Required configuration: WEB3_PROVIDER_URI, WEB3_PRIVATE_KEY, SMART_CONTRACT_ADDRESS, WEB3_PAYOUT_DECIMALS, and a valid farmer wallet.</a:t>
            </a:r>
          </a:p>
        </p:txBody>
      </p:sp>
    </p:spTree>
    <p:extLst>
      <p:ext uri="{BB962C8B-B14F-4D97-AF65-F5344CB8AC3E}">
        <p14:creationId xmlns:p14="http://schemas.microsoft.com/office/powerpoint/2010/main" val="417586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951A2-B3EC-4BFD-8236-AC4EE39F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Operator reports and farmer alerts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475AB-03FB-4B01-8B5A-134ABB1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The same claim record drives reporting, export, AI fallback, and SMS status.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08553-C121-4E6F-A8CA-A766B75E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FF887-2F2F-47A1-ACBA-3B953CF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5F83C-0E5C-4B16-B9FF-9AE67F68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857C-51F3-4D89-9D96-6BCC4374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286ec635b4310"/>
          <a:srcRect xmlns:a="http://schemas.openxmlformats.org/drawingml/2006/main" l="1339" t="0" r="1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6229350" cy="40005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51a6fa5b64294"/>
          <a:srcRect xmlns:a="http://schemas.openxmlformats.org/drawingml/2006/main" l="4167" t="0" r="41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1752600"/>
            <a:ext cx="41910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10499-8391-41DD-837F-6281A57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19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Reporting: verified filters, CSV export, print-to-PDF, and confidence tracking.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41E9F-E48D-4FC0-98CF-5DEEBFB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530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51F"/>
                </a:solidFill>
                <a:latin typeface="Arial"/>
                <a:ea typeface="Arial"/>
                <a:cs typeface="Arial"/>
              </a:rPr>
              <a:t>SMS: Twilio when configured, mock fallback otherwise. AI reports use the configured OpenAI model or a deterministic fallback.</a:t>
            </a:r>
          </a:p>
        </p:txBody>
      </p:sp>
    </p:spTree>
    <p:extLst>
      <p:ext uri="{BB962C8B-B14F-4D97-AF65-F5344CB8AC3E}">
        <p14:creationId xmlns:p14="http://schemas.microsoft.com/office/powerpoint/2010/main" val="670714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170DD-6605-47AC-A4EF-D28698C5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Market and impact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1F0D6-D704-4EC6-A0AE-0A4980BD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All figures on this slide describe targets or external benchmarks, not realized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7DAF0-FF5C-4D7E-B3FE-8CB3D00A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DA49C-A54E-4042-B03B-6D0D1EC8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FA89F-A08C-4E13-B0DB-02AD202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226B6-AD9F-4B26-ACA4-8C3226D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6572250" cy="3352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64594"/>
                <a:gridCol w="2300287"/>
                <a:gridCol w="1807369"/>
              </a:tblGrid>
              <a:tr h="5588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Traditional benchmark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AgriGuard target</a:t>
                      </a:r>
                    </a:p>
                  </a:txBody>
                  <a:tcPr marL="91440" marR="91440" marT="45720" marB="45720">
                    <a:solidFill>
                      <a:srgbClr val="0B3D2E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Claim cycle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4 to 12 weeks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Minutes after verified data</a:t>
                      </a:r>
                    </a:p>
                  </a:txBody>
                  <a:tcPr marL="91440" marR="91440" marT="45720" marB="4572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Routine verification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$50 to $200 per claim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Materially lower through spatial automation</a:t>
                      </a:r>
                    </a:p>
                  </a:txBody>
                  <a:tcPr marL="91440" marR="91440" marT="45720" marB="4572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Paper and subjective assessment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GNSS metadata plus deterministic hash</a:t>
                      </a:r>
                    </a:p>
                  </a:txBody>
                  <a:tcPr marL="91440" marR="91440" marT="45720" marB="4572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Farmer 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Large commercial farms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SMS-first, with USSD on the roadmap</a:t>
                      </a:r>
                    </a:p>
                  </a:txBody>
                  <a:tcPr marL="91440" marR="91440" marT="45720" marB="45720"/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Sustainability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Manual and cost-heavy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2251F"/>
                          </a:solidFill>
                          <a:latin typeface="Arial"/>
                          <a:ea typeface="Arial"/>
                          <a:cs typeface="Arial"/>
                        </a:rPr>
                        <a:t>Recurring B2B2C platform model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8AA87-0766-4D7C-AD80-3EC3AAC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669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33627-2BF5-4B34-9303-7F993260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485M African livelihoods exposed to climate risk. $9.3B annual loss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F6467-76DF-4C75-8725-A01C7D87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71C67-26AA-43DD-BD4A-2715EDA8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194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120M farms across Sub-Saharan Africa (Africa-first; Southeast Asia is upside).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DC630-B7AF-4E58-BC6B-5825F0E3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6B3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6B3B"/>
                </a:solidFill>
                <a:latin typeface="Arial"/>
                <a:ea typeface="Arial"/>
                <a:cs typeface="Arial"/>
              </a:rPr>
              <a:t>SOM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E936E-D175-48CD-9E40-354D542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120,000 insured farmers by Year 3: ~$3M GWP, ~$0.9-1.2M platform ARR.</a:t>
            </a:r>
          </a:p>
        </p:txBody>
      </p:sp>
    </p:spTree>
    <p:extLst>
      <p:ext uri="{BB962C8B-B14F-4D97-AF65-F5344CB8AC3E}">
        <p14:creationId xmlns:p14="http://schemas.microsoft.com/office/powerpoint/2010/main" val="1429390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6160B-8F62-4B7A-871C-6C5C85A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Transferability and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1647-620C-436A-88FF-ABF74E8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The architecture separates data, rules, records, and settlement so partners can replace one layer at a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1342F-1CB7-4657-B0B9-9AB48A18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D3BD3-0C92-47E9-9143-0A70099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2A8C6-8B6B-4D56-99C3-6B2FA66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AgriGuard  |  G4-SAA Challenge II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251F2-99FA-4C53-8101-103EE3E2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BD404-8CFF-44A8-9F73-F612DAC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2575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E1A6C-7070-4565-8EB1-2FBBE21B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Q4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D3286-C874-4BA3-8A19-96F14C8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Regional insurer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10E30-0835-4D4A-BE08-D1BE4229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800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Validate thresholds, settlement operations, and farmer consent with an insurer partner.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064FC-22A0-476F-8B2F-A72AABBD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2575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6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F954C-23DF-4C86-9F07-F3B61041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574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Q1-Q2 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66B7D-99DA-4772-80E4-C457BC0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Channel 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9651F-96B8-4AFB-A0F2-319F563F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81350"/>
            <a:ext cx="2800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Add USSD and deeper offline synchronization for feature phones and low-bandwidth areas.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9A4C3-3870-475C-B86B-8D13696C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32575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D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7DEEC-23BA-4387-BF98-26326A7E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4F"/>
                </a:solidFill>
                <a:latin typeface="Arial"/>
                <a:ea typeface="Arial"/>
                <a:cs typeface="Arial"/>
              </a:rPr>
              <a:t>Q3-Q4 2027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57D34-97E5-4E32-BA78-62B79875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Partner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0D75F-DD12-47F0-B492-C4FC5EF8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2800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Expose APIs for NGOs and governments and add new peril and asset templates.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9004F-88FF-4C44-9057-E4425399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5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51F"/>
                </a:solidFill>
                <a:latin typeface="Arial"/>
                <a:ea typeface="Arial"/>
                <a:cs typeface="Arial"/>
              </a:rPr>
              <a:t>Transferable design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67767-1544-4033-B816-6C0C7E0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48300"/>
            <a:ext cx="8248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F70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7068"/>
                </a:solidFill>
                <a:latin typeface="Arial"/>
                <a:ea typeface="Arial"/>
                <a:cs typeface="Arial"/>
              </a:rPr>
              <a:t>New hazard polygons, new crop rules, new settlement rails, and new countries reuse the same spatial and evidence model.</a:t>
            </a:r>
          </a:p>
        </p:txBody>
      </p:sp>
    </p:spTree>
    <p:extLst>
      <p:ext uri="{BB962C8B-B14F-4D97-AF65-F5344CB8AC3E}">
        <p14:creationId xmlns:p14="http://schemas.microsoft.com/office/powerpoint/2010/main" val="19712673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64EEF-2A39-4D21-AE11-E9B2E84C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CBD38-5D5C-45B3-9260-BAFD3EA5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AGRIGUARD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7A496-E771-4112-8116-F8F959EF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From hazard signal to auditable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BDCCB-3733-41F7-9185-175EC50D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7DB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BD0"/>
                </a:solidFill>
                <a:latin typeface="Arial"/>
                <a:ea typeface="Arial"/>
                <a:cs typeface="Arial"/>
              </a:rPr>
              <a:t>GNSS boundaries</a:t>
            </a:r>
          </a:p>
          <a:p xmlns:a="http://schemas.openxmlformats.org/drawingml/2006/main">
            <a:pPr>
              <a:defRPr sz="1500" b="0">
                <a:solidFill>
                  <a:srgbClr val="C7DB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BD0"/>
                </a:solidFill>
                <a:latin typeface="Arial"/>
                <a:ea typeface="Arial"/>
                <a:cs typeface="Arial"/>
              </a:rPr>
              <a:t>PostGIS spatial matching</a:t>
            </a:r>
          </a:p>
          <a:p xmlns:a="http://schemas.openxmlformats.org/drawingml/2006/main">
            <a:pPr>
              <a:defRPr sz="1500" b="0">
                <a:solidFill>
                  <a:srgbClr val="C7DB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BD0"/>
                </a:solidFill>
                <a:latin typeface="Arial"/>
                <a:ea typeface="Arial"/>
                <a:cs typeface="Arial"/>
              </a:rPr>
              <a:t>Crop-specific parametric rules</a:t>
            </a:r>
          </a:p>
          <a:p xmlns:a="http://schemas.openxmlformats.org/drawingml/2006/main">
            <a:pPr>
              <a:defRPr sz="1500" b="0">
                <a:solidFill>
                  <a:srgbClr val="C7DBD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BD0"/>
                </a:solidFill>
                <a:latin typeface="Arial"/>
                <a:ea typeface="Arial"/>
                <a:cs typeface="Arial"/>
              </a:rPr>
              <a:t>Explicit settlement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5D33-85C6-4499-93CB-C43D8E83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715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3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A5C4E-03C4-48B5-87A8-2E67BA2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B0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FB069"/>
                </a:solidFill>
                <a:latin typeface="Arial"/>
                <a:ea typeface="Arial"/>
                <a:cs typeface="Arial"/>
              </a:rPr>
              <a:t>Live judge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09B34-B108-40A2-9310-986D0A8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agri-guard-api-live.vercel.app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B45C5-582C-4F22-A4DE-2A279933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Repository</a:t>
            </a:r>
          </a:p>
          <a:p xmlns:a="http://schemas.openxmlformats.org/drawingml/2006/main">
            <a:pPr>
              <a:defRPr sz="1350" b="0">
                <a:solidFill>
                  <a:srgbClr val="DDE9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9E2"/>
                </a:solidFill>
                <a:latin typeface="Arial"/>
                <a:ea typeface="Arial"/>
                <a:cs typeface="Arial"/>
              </a:rPr>
              <a:t>github.com/juangh123/agri_guard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9EBB6-55C3-42F6-9802-47F9D50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demo settlement: PENDING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fabricated transaction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71BAB-FE9D-4C0D-975F-08EB2E8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C5B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C5B5"/>
                </a:solidFill>
                <a:latin typeface="Arial"/>
                <a:ea typeface="Arial"/>
                <a:cs typeface="Arial"/>
              </a:rPr>
              <a:t>AgriGuard  |  G4-SAA  |  Challenge II</a:t>
            </a:r>
          </a:p>
        </p:txBody>
      </p:sp>
    </p:spTree>
    <p:extLst>
      <p:ext uri="{BB962C8B-B14F-4D97-AF65-F5344CB8AC3E}">
        <p14:creationId xmlns:p14="http://schemas.microsoft.com/office/powerpoint/2010/main" val="802066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2026-09-15T06:31:01.2780000Z</dcterms:created>
  <dcterms:modified xsi:type="dcterms:W3CDTF">2026-09-15T06:31:01.2780000Z</dcterms:modified>
</coreProperties>
</file>